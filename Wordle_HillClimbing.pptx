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6455A"/>
    <a:srgbClr val="0E9E9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7" d="100"/>
          <a:sy n="137" d="100"/>
        </p:scale>
        <p:origin x="864"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300" b="0" i="0" u="none" strike="noStrike">
                <a:solidFill>
                  <a:srgbClr val="1B2A4A"/>
                </a:solidFill>
                <a:latin typeface="Arial"/>
              </a:defRPr>
            </a:pPr>
            <a:r>
              <a:rPr lang="en-US" sz="1300" b="0" i="0" u="none" strike="noStrike" dirty="0">
                <a:solidFill>
                  <a:srgbClr val="1B2A4A"/>
                </a:solidFill>
                <a:latin typeface="Arial"/>
              </a:rPr>
              <a:t>Guess Distribution</a:t>
            </a:r>
          </a:p>
        </c:rich>
      </c:tx>
      <c:overlay val="0"/>
    </c:title>
    <c:autoTitleDeleted val="0"/>
    <c:plotArea>
      <c:layout>
        <c:manualLayout>
          <c:layoutTarget val="inner"/>
          <c:xMode val="edge"/>
          <c:yMode val="edge"/>
          <c:x val="0.10423096358644826"/>
          <c:y val="0.11333695756099491"/>
          <c:w val="0.86942804024496934"/>
          <c:h val="0.80035035869341586"/>
        </c:manualLayout>
      </c:layout>
      <c:barChart>
        <c:barDir val="col"/>
        <c:grouping val="clustered"/>
        <c:varyColors val="0"/>
        <c:ser>
          <c:idx val="0"/>
          <c:order val="0"/>
          <c:tx>
            <c:strRef>
              <c:f>Sheet1!$B$1</c:f>
              <c:strCache>
                <c:ptCount val="1"/>
                <c:pt idx="0">
                  <c:v>Our Bot</c:v>
                </c:pt>
              </c:strCache>
            </c:strRef>
          </c:tx>
          <c:spPr>
            <a:solidFill>
              <a:srgbClr val="0D9488"/>
            </a:solidFill>
            <a:effectLst/>
          </c:spPr>
          <c:invertIfNegative val="0"/>
          <c:cat>
            <c:strRef>
              <c:f>Sheet1!$A$2:$A$8</c:f>
              <c:strCache>
                <c:ptCount val="7"/>
                <c:pt idx="0">
                  <c:v>1 turn</c:v>
                </c:pt>
                <c:pt idx="1">
                  <c:v>2 turns</c:v>
                </c:pt>
                <c:pt idx="2">
                  <c:v>3 turns</c:v>
                </c:pt>
                <c:pt idx="3">
                  <c:v>4 turns</c:v>
                </c:pt>
                <c:pt idx="4">
                  <c:v>5 turns</c:v>
                </c:pt>
                <c:pt idx="5">
                  <c:v>6 turns</c:v>
                </c:pt>
                <c:pt idx="6">
                  <c:v>Failed</c:v>
                </c:pt>
              </c:strCache>
            </c:strRef>
          </c:cat>
          <c:val>
            <c:numRef>
              <c:f>Sheet1!$B$2:$B$8</c:f>
              <c:numCache>
                <c:formatCode>General</c:formatCode>
                <c:ptCount val="7"/>
                <c:pt idx="0">
                  <c:v>1</c:v>
                </c:pt>
                <c:pt idx="1">
                  <c:v>145</c:v>
                </c:pt>
                <c:pt idx="2">
                  <c:v>878</c:v>
                </c:pt>
                <c:pt idx="3">
                  <c:v>1011</c:v>
                </c:pt>
                <c:pt idx="4">
                  <c:v>254</c:v>
                </c:pt>
                <c:pt idx="5">
                  <c:v>26</c:v>
                </c:pt>
                <c:pt idx="6">
                  <c:v>0</c:v>
                </c:pt>
              </c:numCache>
            </c:numRef>
          </c:val>
          <c:extLst>
            <c:ext xmlns:c16="http://schemas.microsoft.com/office/drawing/2014/chart" uri="{C3380CC4-5D6E-409C-BE32-E72D297353CC}">
              <c16:uniqueId val="{00000000-0729-4277-9BA3-3654FB43A414}"/>
            </c:ext>
          </c:extLst>
        </c:ser>
        <c:ser>
          <c:idx val="1"/>
          <c:order val="1"/>
          <c:tx>
            <c:strRef>
              <c:f>Sheet1!$C$1</c:f>
              <c:strCache>
                <c:ptCount val="1"/>
                <c:pt idx="0">
                  <c:v>Avg Human</c:v>
                </c:pt>
              </c:strCache>
            </c:strRef>
          </c:tx>
          <c:invertIfNegative val="0"/>
          <c:cat>
            <c:strRef>
              <c:f>Sheet1!$A$2:$A$8</c:f>
              <c:strCache>
                <c:ptCount val="7"/>
                <c:pt idx="0">
                  <c:v>1 turn</c:v>
                </c:pt>
                <c:pt idx="1">
                  <c:v>2 turns</c:v>
                </c:pt>
                <c:pt idx="2">
                  <c:v>3 turns</c:v>
                </c:pt>
                <c:pt idx="3">
                  <c:v>4 turns</c:v>
                </c:pt>
                <c:pt idx="4">
                  <c:v>5 turns</c:v>
                </c:pt>
                <c:pt idx="5">
                  <c:v>6 turns</c:v>
                </c:pt>
                <c:pt idx="6">
                  <c:v>Failed</c:v>
                </c:pt>
              </c:strCache>
            </c:strRef>
          </c:cat>
          <c:val>
            <c:numRef>
              <c:f>Sheet1!$C$2:$C$8</c:f>
              <c:numCache>
                <c:formatCode>General</c:formatCode>
                <c:ptCount val="7"/>
                <c:pt idx="0">
                  <c:v>9</c:v>
                </c:pt>
                <c:pt idx="1">
                  <c:v>243</c:v>
                </c:pt>
                <c:pt idx="2">
                  <c:v>718</c:v>
                </c:pt>
                <c:pt idx="3">
                  <c:v>778</c:v>
                </c:pt>
                <c:pt idx="4">
                  <c:v>370</c:v>
                </c:pt>
                <c:pt idx="5">
                  <c:v>162</c:v>
                </c:pt>
                <c:pt idx="6">
                  <c:v>35</c:v>
                </c:pt>
              </c:numCache>
            </c:numRef>
          </c:val>
          <c:extLst>
            <c:ext xmlns:c16="http://schemas.microsoft.com/office/drawing/2014/chart" uri="{C3380CC4-5D6E-409C-BE32-E72D297353CC}">
              <c16:uniqueId val="{00000000-76DD-447F-918D-8ED52EC3E0C9}"/>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showDLblsOverMax val="1"/>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52840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D9488"/>
          </a:solidFill>
          <a:ln w="12700">
            <a:solidFill>
              <a:srgbClr val="0D9488"/>
            </a:solidFill>
            <a:prstDash val="solid"/>
          </a:ln>
        </p:spPr>
        <p:txBody>
          <a:bodyPr/>
          <a:lstStyle/>
          <a:p>
            <a:endParaRPr lang="en-US"/>
          </a:p>
        </p:txBody>
      </p:sp>
      <p:sp>
        <p:nvSpPr>
          <p:cNvPr id="3" name="Shape 1"/>
          <p:cNvSpPr/>
          <p:nvPr/>
        </p:nvSpPr>
        <p:spPr>
          <a:xfrm>
            <a:off x="6217920" y="274320"/>
            <a:ext cx="438912" cy="438912"/>
          </a:xfrm>
          <a:prstGeom prst="rect">
            <a:avLst/>
          </a:prstGeom>
          <a:solidFill>
            <a:srgbClr val="22C55E"/>
          </a:solidFill>
          <a:ln w="12700">
            <a:solidFill>
              <a:srgbClr val="22C55E"/>
            </a:solidFill>
            <a:prstDash val="solid"/>
          </a:ln>
          <a:effectLst>
            <a:outerShdw blurRad="101600" dist="38100" dir="8100000" algn="bl" rotWithShape="0">
              <a:srgbClr val="000000">
                <a:alpha val="12000"/>
              </a:srgbClr>
            </a:outerShdw>
          </a:effectLst>
        </p:spPr>
        <p:txBody>
          <a:bodyPr/>
          <a:lstStyle/>
          <a:p>
            <a:endParaRPr lang="en-US"/>
          </a:p>
        </p:txBody>
      </p:sp>
      <p:sp>
        <p:nvSpPr>
          <p:cNvPr id="4" name="Text 2"/>
          <p:cNvSpPr/>
          <p:nvPr/>
        </p:nvSpPr>
        <p:spPr>
          <a:xfrm>
            <a:off x="6217920" y="2743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rPr>
              <a:t>W</a:t>
            </a:r>
            <a:endParaRPr lang="en-US" sz="1600" dirty="0"/>
          </a:p>
        </p:txBody>
      </p:sp>
      <p:sp>
        <p:nvSpPr>
          <p:cNvPr id="5" name="Shape 3"/>
          <p:cNvSpPr/>
          <p:nvPr/>
        </p:nvSpPr>
        <p:spPr>
          <a:xfrm>
            <a:off x="6711696" y="274320"/>
            <a:ext cx="438912" cy="438912"/>
          </a:xfrm>
          <a:prstGeom prst="rect">
            <a:avLst/>
          </a:prstGeom>
          <a:solidFill>
            <a:srgbClr val="EAB308"/>
          </a:solidFill>
          <a:ln w="12700">
            <a:solidFill>
              <a:srgbClr val="EAB308"/>
            </a:solidFill>
            <a:prstDash val="solid"/>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6711696" y="2743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rPr>
              <a:t>O</a:t>
            </a:r>
            <a:endParaRPr lang="en-US" sz="1600" dirty="0"/>
          </a:p>
        </p:txBody>
      </p:sp>
      <p:sp>
        <p:nvSpPr>
          <p:cNvPr id="7" name="Shape 5"/>
          <p:cNvSpPr/>
          <p:nvPr/>
        </p:nvSpPr>
        <p:spPr>
          <a:xfrm>
            <a:off x="7205472" y="274320"/>
            <a:ext cx="438912" cy="438912"/>
          </a:xfrm>
          <a:prstGeom prst="rect">
            <a:avLst/>
          </a:prstGeom>
          <a:solidFill>
            <a:srgbClr val="0D9488"/>
          </a:solidFill>
          <a:ln w="12700">
            <a:solidFill>
              <a:srgbClr val="0D9488"/>
            </a:solidFill>
            <a:prstDash val="solid"/>
          </a:ln>
          <a:effectLst>
            <a:outerShdw blurRad="101600" dist="38100" dir="8100000" algn="bl" rotWithShape="0">
              <a:srgbClr val="000000">
                <a:alpha val="12000"/>
              </a:srgbClr>
            </a:outerShdw>
          </a:effectLst>
        </p:spPr>
        <p:txBody>
          <a:bodyPr/>
          <a:lstStyle/>
          <a:p>
            <a:endParaRPr lang="en-US"/>
          </a:p>
        </p:txBody>
      </p:sp>
      <p:sp>
        <p:nvSpPr>
          <p:cNvPr id="8" name="Text 6"/>
          <p:cNvSpPr/>
          <p:nvPr/>
        </p:nvSpPr>
        <p:spPr>
          <a:xfrm>
            <a:off x="7205472" y="2743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rPr>
              <a:t>R</a:t>
            </a:r>
            <a:endParaRPr lang="en-US" sz="1600" dirty="0"/>
          </a:p>
        </p:txBody>
      </p:sp>
      <p:sp>
        <p:nvSpPr>
          <p:cNvPr id="9" name="Shape 7"/>
          <p:cNvSpPr/>
          <p:nvPr/>
        </p:nvSpPr>
        <p:spPr>
          <a:xfrm>
            <a:off x="7699248" y="274320"/>
            <a:ext cx="438912" cy="438912"/>
          </a:xfrm>
          <a:prstGeom prst="rect">
            <a:avLst/>
          </a:prstGeom>
          <a:solidFill>
            <a:srgbClr val="22C55E"/>
          </a:solidFill>
          <a:ln w="12700">
            <a:solidFill>
              <a:srgbClr val="22C55E"/>
            </a:solidFill>
            <a:prstDash val="solid"/>
          </a:ln>
          <a:effectLst>
            <a:outerShdw blurRad="101600" dist="38100" dir="8100000" algn="bl" rotWithShape="0">
              <a:srgbClr val="000000">
                <a:alpha val="12000"/>
              </a:srgbClr>
            </a:outerShdw>
          </a:effectLst>
        </p:spPr>
        <p:txBody>
          <a:bodyPr/>
          <a:lstStyle/>
          <a:p>
            <a:endParaRPr lang="en-US"/>
          </a:p>
        </p:txBody>
      </p:sp>
      <p:sp>
        <p:nvSpPr>
          <p:cNvPr id="10" name="Text 8"/>
          <p:cNvSpPr/>
          <p:nvPr/>
        </p:nvSpPr>
        <p:spPr>
          <a:xfrm>
            <a:off x="7699248" y="2743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rPr>
              <a:t>D</a:t>
            </a:r>
            <a:endParaRPr lang="en-US" sz="1600" dirty="0"/>
          </a:p>
        </p:txBody>
      </p:sp>
      <p:sp>
        <p:nvSpPr>
          <p:cNvPr id="11" name="Shape 9"/>
          <p:cNvSpPr/>
          <p:nvPr/>
        </p:nvSpPr>
        <p:spPr>
          <a:xfrm>
            <a:off x="8193024" y="274320"/>
            <a:ext cx="438912" cy="438912"/>
          </a:xfrm>
          <a:prstGeom prst="rect">
            <a:avLst/>
          </a:prstGeom>
          <a:solidFill>
            <a:srgbClr val="EAB308"/>
          </a:solidFill>
          <a:ln w="12700">
            <a:solidFill>
              <a:srgbClr val="EAB308"/>
            </a:solidFill>
            <a:prstDash val="solid"/>
          </a:ln>
          <a:effectLst>
            <a:outerShdw blurRad="101600" dist="38100" dir="8100000" algn="bl" rotWithShape="0">
              <a:srgbClr val="000000">
                <a:alpha val="12000"/>
              </a:srgbClr>
            </a:outerShdw>
          </a:effectLst>
        </p:spPr>
        <p:txBody>
          <a:bodyPr/>
          <a:lstStyle/>
          <a:p>
            <a:endParaRPr lang="en-US"/>
          </a:p>
        </p:txBody>
      </p:sp>
      <p:sp>
        <p:nvSpPr>
          <p:cNvPr id="12" name="Text 10"/>
          <p:cNvSpPr/>
          <p:nvPr/>
        </p:nvSpPr>
        <p:spPr>
          <a:xfrm>
            <a:off x="8193024" y="2743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rPr>
              <a:t>L</a:t>
            </a:r>
            <a:endParaRPr lang="en-US" sz="1600" dirty="0"/>
          </a:p>
        </p:txBody>
      </p:sp>
      <p:sp>
        <p:nvSpPr>
          <p:cNvPr id="13" name="Shape 11"/>
          <p:cNvSpPr/>
          <p:nvPr/>
        </p:nvSpPr>
        <p:spPr>
          <a:xfrm>
            <a:off x="8686800" y="274320"/>
            <a:ext cx="438912" cy="438912"/>
          </a:xfrm>
          <a:prstGeom prst="rect">
            <a:avLst/>
          </a:prstGeom>
          <a:solidFill>
            <a:srgbClr val="0D9488"/>
          </a:solidFill>
          <a:ln w="12700">
            <a:solidFill>
              <a:srgbClr val="0D9488"/>
            </a:solidFill>
            <a:prstDash val="solid"/>
          </a:ln>
          <a:effectLst>
            <a:outerShdw blurRad="101600" dist="38100" dir="8100000" algn="bl" rotWithShape="0">
              <a:srgbClr val="000000">
                <a:alpha val="12000"/>
              </a:srgbClr>
            </a:outerShdw>
          </a:effectLst>
        </p:spPr>
        <p:txBody>
          <a:bodyPr/>
          <a:lstStyle/>
          <a:p>
            <a:endParaRPr lang="en-US"/>
          </a:p>
        </p:txBody>
      </p:sp>
      <p:sp>
        <p:nvSpPr>
          <p:cNvPr id="14" name="Text 12"/>
          <p:cNvSpPr/>
          <p:nvPr/>
        </p:nvSpPr>
        <p:spPr>
          <a:xfrm>
            <a:off x="8686800" y="274320"/>
            <a:ext cx="438912" cy="438912"/>
          </a:xfrm>
          <a:prstGeom prst="rect">
            <a:avLst/>
          </a:prstGeom>
          <a:noFill/>
          <a:ln/>
        </p:spPr>
        <p:txBody>
          <a:bodyPr wrap="square" lIns="0" tIns="0" rIns="0" bIns="0" rtlCol="0" anchor="ctr"/>
          <a:lstStyle/>
          <a:p>
            <a:pPr marL="0" indent="0" algn="ctr">
              <a:buNone/>
            </a:pPr>
            <a:r>
              <a:rPr lang="en-US" sz="1600" b="1" dirty="0">
                <a:solidFill>
                  <a:srgbClr val="FFFFFF"/>
                </a:solidFill>
              </a:rPr>
              <a:t>E</a:t>
            </a:r>
            <a:endParaRPr lang="en-US" sz="1600" dirty="0"/>
          </a:p>
        </p:txBody>
      </p:sp>
      <p:sp>
        <p:nvSpPr>
          <p:cNvPr id="15" name="Text 13"/>
          <p:cNvSpPr/>
          <p:nvPr/>
        </p:nvSpPr>
        <p:spPr>
          <a:xfrm>
            <a:off x="457200" y="1463040"/>
            <a:ext cx="8229600" cy="822960"/>
          </a:xfrm>
          <a:prstGeom prst="rect">
            <a:avLst/>
          </a:prstGeom>
          <a:noFill/>
          <a:ln/>
        </p:spPr>
        <p:txBody>
          <a:bodyPr wrap="square" rtlCol="0" anchor="ctr"/>
          <a:lstStyle/>
          <a:p>
            <a:pPr marL="0" indent="0">
              <a:buNone/>
            </a:pPr>
            <a:r>
              <a:rPr lang="en-US" sz="5200" b="1" dirty="0">
                <a:solidFill>
                  <a:srgbClr val="FFFFFF"/>
                </a:solidFill>
                <a:latin typeface="Georgia" pitchFamily="34" charset="0"/>
                <a:ea typeface="Georgia" pitchFamily="34" charset="-122"/>
                <a:cs typeface="Georgia" pitchFamily="34" charset="-120"/>
              </a:rPr>
              <a:t>Wordle:</a:t>
            </a:r>
            <a:endParaRPr lang="en-US" sz="5200" dirty="0"/>
          </a:p>
        </p:txBody>
      </p:sp>
      <p:sp>
        <p:nvSpPr>
          <p:cNvPr id="16" name="Text 14"/>
          <p:cNvSpPr/>
          <p:nvPr/>
        </p:nvSpPr>
        <p:spPr>
          <a:xfrm>
            <a:off x="457200" y="2331720"/>
            <a:ext cx="8229600" cy="594360"/>
          </a:xfrm>
          <a:prstGeom prst="rect">
            <a:avLst/>
          </a:prstGeom>
          <a:noFill/>
          <a:ln/>
        </p:spPr>
        <p:txBody>
          <a:bodyPr wrap="square" rtlCol="0" anchor="ctr"/>
          <a:lstStyle/>
          <a:p>
            <a:pPr marL="0" indent="0">
              <a:buNone/>
            </a:pPr>
            <a:r>
              <a:rPr lang="en-US" sz="2800" i="1" dirty="0">
                <a:solidFill>
                  <a:srgbClr val="5EEAD4"/>
                </a:solidFill>
                <a:latin typeface="Georgia" pitchFamily="34" charset="0"/>
                <a:ea typeface="Georgia" pitchFamily="34" charset="-122"/>
                <a:cs typeface="Georgia" pitchFamily="34" charset="-120"/>
              </a:rPr>
              <a:t>Human vs Bot</a:t>
            </a:r>
            <a:endParaRPr lang="en-US" sz="2800" dirty="0"/>
          </a:p>
        </p:txBody>
      </p:sp>
      <p:sp>
        <p:nvSpPr>
          <p:cNvPr id="17" name="Text 15"/>
          <p:cNvSpPr/>
          <p:nvPr/>
        </p:nvSpPr>
        <p:spPr>
          <a:xfrm>
            <a:off x="457200" y="3200400"/>
            <a:ext cx="8229600" cy="365760"/>
          </a:xfrm>
          <a:prstGeom prst="rect">
            <a:avLst/>
          </a:prstGeom>
          <a:noFill/>
          <a:ln/>
        </p:spPr>
        <p:txBody>
          <a:bodyPr wrap="square" rtlCol="0" anchor="ctr"/>
          <a:lstStyle/>
          <a:p>
            <a:pPr marL="0" indent="0">
              <a:buNone/>
            </a:pPr>
            <a:r>
              <a:rPr lang="en-US" sz="1500" dirty="0">
                <a:solidFill>
                  <a:srgbClr val="64748B"/>
                </a:solidFill>
                <a:latin typeface="Calibri" pitchFamily="34" charset="0"/>
                <a:ea typeface="Calibri" pitchFamily="34" charset="-122"/>
                <a:cs typeface="Calibri" pitchFamily="34" charset="-120"/>
              </a:rPr>
              <a:t>Algorithm Design &amp; Performance Analysis</a:t>
            </a:r>
            <a:endParaRPr lang="en-US" sz="1500" dirty="0"/>
          </a:p>
        </p:txBody>
      </p:sp>
      <p:sp>
        <p:nvSpPr>
          <p:cNvPr id="18" name="Shape 16"/>
          <p:cNvSpPr/>
          <p:nvPr/>
        </p:nvSpPr>
        <p:spPr>
          <a:xfrm>
            <a:off x="0" y="4754880"/>
            <a:ext cx="9144000" cy="388620"/>
          </a:xfrm>
          <a:prstGeom prst="rect">
            <a:avLst/>
          </a:prstGeom>
          <a:solidFill>
            <a:srgbClr val="0D9488"/>
          </a:solidFill>
          <a:ln w="12700">
            <a:solidFill>
              <a:srgbClr val="0D9488"/>
            </a:solidFill>
            <a:prstDash val="solid"/>
          </a:ln>
        </p:spPr>
        <p:txBody>
          <a:bodyPr/>
          <a:lstStyle/>
          <a:p>
            <a:endParaRPr lang="en-US" dirty="0"/>
          </a:p>
        </p:txBody>
      </p:sp>
      <p:sp>
        <p:nvSpPr>
          <p:cNvPr id="19" name="Text 17"/>
          <p:cNvSpPr/>
          <p:nvPr/>
        </p:nvSpPr>
        <p:spPr>
          <a:xfrm>
            <a:off x="274320" y="4754880"/>
            <a:ext cx="8595360" cy="38862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Hamza Negm 23-101261 |  Omar Ahmed 23-101261 | Wordle Solver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6"/>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713232"/>
            <a:ext cx="9144000" cy="50292"/>
          </a:xfrm>
          <a:prstGeom prst="rect">
            <a:avLst/>
          </a:prstGeom>
          <a:solidFill>
            <a:srgbClr val="0D9488"/>
          </a:solidFill>
          <a:ln w="12700">
            <a:solidFill>
              <a:srgbClr val="0D9488"/>
            </a:solidFill>
            <a:prstDash val="solid"/>
          </a:ln>
        </p:spPr>
        <p:txBody>
          <a:bodyPr/>
          <a:lstStyle/>
          <a:p>
            <a:endParaRPr lang="en-US"/>
          </a:p>
        </p:txBody>
      </p:sp>
      <p:sp>
        <p:nvSpPr>
          <p:cNvPr id="4" name="Text 2"/>
          <p:cNvSpPr/>
          <p:nvPr/>
        </p:nvSpPr>
        <p:spPr>
          <a:xfrm>
            <a:off x="365760" y="0"/>
            <a:ext cx="8412480" cy="713232"/>
          </a:xfrm>
          <a:prstGeom prst="rect">
            <a:avLst/>
          </a:prstGeom>
          <a:noFill/>
          <a:ln/>
        </p:spPr>
        <p:txBody>
          <a:bodyPr wrap="square" lIns="0" tIns="0" rIns="0" bIns="0"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Problem Description</a:t>
            </a:r>
            <a:endParaRPr lang="en-US" sz="2400" dirty="0"/>
          </a:p>
        </p:txBody>
      </p:sp>
      <p:sp>
        <p:nvSpPr>
          <p:cNvPr id="5" name="Shape 3"/>
          <p:cNvSpPr/>
          <p:nvPr/>
        </p:nvSpPr>
        <p:spPr>
          <a:xfrm>
            <a:off x="274320" y="960120"/>
            <a:ext cx="5120640" cy="3807324"/>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457200" y="1051560"/>
            <a:ext cx="4754880" cy="365760"/>
          </a:xfrm>
          <a:prstGeom prst="rect">
            <a:avLst/>
          </a:prstGeom>
          <a:noFill/>
          <a:ln/>
        </p:spPr>
        <p:txBody>
          <a:bodyPr wrap="square" rtlCol="0" anchor="ctr"/>
          <a:lstStyle/>
          <a:p>
            <a:pPr marL="0" indent="0">
              <a:buNone/>
            </a:pPr>
            <a:r>
              <a:rPr lang="en-US" sz="1700" b="1" dirty="0">
                <a:solidFill>
                  <a:srgbClr val="1B2A4A"/>
                </a:solidFill>
                <a:latin typeface="Georgia" pitchFamily="34" charset="0"/>
                <a:ea typeface="Georgia" pitchFamily="34" charset="-122"/>
                <a:cs typeface="Georgia" pitchFamily="34" charset="-120"/>
              </a:rPr>
              <a:t>What is Wordle?</a:t>
            </a:r>
            <a:endParaRPr lang="en-US" sz="1700" dirty="0"/>
          </a:p>
        </p:txBody>
      </p:sp>
      <p:sp>
        <p:nvSpPr>
          <p:cNvPr id="7" name="Text 5"/>
          <p:cNvSpPr/>
          <p:nvPr/>
        </p:nvSpPr>
        <p:spPr>
          <a:xfrm>
            <a:off x="457200" y="1463040"/>
            <a:ext cx="4754880" cy="2926080"/>
          </a:xfrm>
          <a:prstGeom prst="rect">
            <a:avLst/>
          </a:prstGeom>
          <a:noFill/>
          <a:ln/>
        </p:spPr>
        <p:txBody>
          <a:bodyPr wrap="square" rtlCol="0" anchor="ctr"/>
          <a:lstStyle/>
          <a:p>
            <a:pPr marL="0" indent="0">
              <a:buNone/>
            </a:pPr>
            <a:r>
              <a:rPr lang="en-US" sz="1300" dirty="0">
                <a:solidFill>
                  <a:srgbClr val="334155"/>
                </a:solidFill>
                <a:latin typeface="Calibri" pitchFamily="34" charset="0"/>
                <a:ea typeface="Calibri" pitchFamily="34" charset="-122"/>
                <a:cs typeface="Calibri" pitchFamily="34" charset="-120"/>
              </a:rPr>
              <a:t>Wordle is a word-guessing game where a player has</a:t>
            </a:r>
            <a:endParaRPr lang="en-US" sz="1300" dirty="0"/>
          </a:p>
          <a:p>
            <a:pPr marL="0" indent="0">
              <a:buNone/>
            </a:pPr>
            <a:r>
              <a:rPr lang="en-US" sz="1300" dirty="0">
                <a:solidFill>
                  <a:srgbClr val="334155"/>
                </a:solidFill>
                <a:latin typeface="Calibri" pitchFamily="34" charset="0"/>
                <a:ea typeface="Calibri" pitchFamily="34" charset="-122"/>
                <a:cs typeface="Calibri" pitchFamily="34" charset="-120"/>
              </a:rPr>
              <a:t>6 attempts to identify a hidden 5-letter word.</a:t>
            </a:r>
            <a:endParaRPr lang="en-US" sz="1300" dirty="0"/>
          </a:p>
          <a:p>
            <a:pPr marL="0" indent="0">
              <a:buNone/>
            </a:pPr>
            <a:r>
              <a:rPr lang="en-US" sz="1300" dirty="0">
                <a:solidFill>
                  <a:srgbClr val="334155"/>
                </a:solidFill>
                <a:latin typeface="Calibri" pitchFamily="34" charset="0"/>
                <a:ea typeface="Calibri" pitchFamily="34" charset="-122"/>
                <a:cs typeface="Calibri" pitchFamily="34" charset="-120"/>
              </a:rPr>
              <a:t> </a:t>
            </a:r>
            <a:endParaRPr lang="en-US" sz="1300" dirty="0"/>
          </a:p>
          <a:p>
            <a:pPr marL="0" indent="0">
              <a:buNone/>
            </a:pPr>
            <a:r>
              <a:rPr lang="en-US" sz="1300" b="1" dirty="0">
                <a:solidFill>
                  <a:srgbClr val="334155"/>
                </a:solidFill>
                <a:latin typeface="Calibri" pitchFamily="34" charset="0"/>
                <a:ea typeface="Calibri" pitchFamily="34" charset="-122"/>
                <a:cs typeface="Calibri" pitchFamily="34" charset="-120"/>
              </a:rPr>
              <a:t>After each guess, letter-level feedback is given:</a:t>
            </a:r>
            <a:endParaRPr lang="en-US" sz="1300" dirty="0"/>
          </a:p>
          <a:p>
            <a:pPr marL="342900" indent="-342900">
              <a:buSzPct val="100000"/>
              <a:buChar char="•"/>
            </a:pPr>
            <a:r>
              <a:rPr lang="en-US" sz="1300" dirty="0">
                <a:solidFill>
                  <a:srgbClr val="334155"/>
                </a:solidFill>
                <a:latin typeface="Calibri" pitchFamily="34" charset="0"/>
                <a:ea typeface="Calibri" pitchFamily="34" charset="-122"/>
                <a:cs typeface="Calibri" pitchFamily="34" charset="-120"/>
              </a:rPr>
              <a:t>🟩  Correct letter, correct position (Green)</a:t>
            </a:r>
            <a:endParaRPr lang="en-US" sz="1300" dirty="0"/>
          </a:p>
          <a:p>
            <a:pPr marL="342900" indent="-342900">
              <a:buSzPct val="100000"/>
              <a:buChar char="•"/>
            </a:pPr>
            <a:r>
              <a:rPr lang="en-US" sz="1300" dirty="0">
                <a:solidFill>
                  <a:srgbClr val="334155"/>
                </a:solidFill>
                <a:latin typeface="Calibri" pitchFamily="34" charset="0"/>
                <a:ea typeface="Calibri" pitchFamily="34" charset="-122"/>
                <a:cs typeface="Calibri" pitchFamily="34" charset="-120"/>
              </a:rPr>
              <a:t>🟨  Correct letter, wrong position (Yellow)</a:t>
            </a:r>
            <a:endParaRPr lang="en-US" sz="1300" dirty="0"/>
          </a:p>
          <a:p>
            <a:pPr marL="342900" indent="-342900">
              <a:buSzPct val="100000"/>
              <a:buChar char="•"/>
            </a:pPr>
            <a:r>
              <a:rPr lang="en-US" sz="1300" dirty="0">
                <a:solidFill>
                  <a:srgbClr val="334155"/>
                </a:solidFill>
                <a:latin typeface="Calibri" pitchFamily="34" charset="0"/>
                <a:ea typeface="Calibri" pitchFamily="34" charset="-122"/>
                <a:cs typeface="Calibri" pitchFamily="34" charset="-120"/>
              </a:rPr>
              <a:t>⬜  Letter not in the word (Grey)</a:t>
            </a:r>
            <a:endParaRPr lang="en-US" sz="1300" dirty="0"/>
          </a:p>
          <a:p>
            <a:pPr marL="0" indent="0">
              <a:buNone/>
            </a:pPr>
            <a:r>
              <a:rPr lang="en-US" sz="1300" dirty="0">
                <a:solidFill>
                  <a:srgbClr val="334155"/>
                </a:solidFill>
                <a:latin typeface="Calibri" pitchFamily="34" charset="0"/>
                <a:ea typeface="Calibri" pitchFamily="34" charset="-122"/>
                <a:cs typeface="Calibri" pitchFamily="34" charset="-120"/>
              </a:rPr>
              <a:t> </a:t>
            </a:r>
            <a:endParaRPr lang="en-US" sz="1300" dirty="0"/>
          </a:p>
          <a:p>
            <a:pPr marL="0" indent="0">
              <a:buNone/>
            </a:pPr>
            <a:r>
              <a:rPr lang="en-US" sz="1300" b="1" dirty="0">
                <a:solidFill>
                  <a:srgbClr val="334155"/>
                </a:solidFill>
                <a:latin typeface="Calibri" pitchFamily="34" charset="0"/>
                <a:ea typeface="Calibri" pitchFamily="34" charset="-122"/>
                <a:cs typeface="Calibri" pitchFamily="34" charset="-120"/>
              </a:rPr>
              <a:t>The Challenge:</a:t>
            </a:r>
            <a:endParaRPr lang="en-US" sz="1300" dirty="0"/>
          </a:p>
          <a:p>
            <a:pPr marL="0" indent="0">
              <a:buNone/>
            </a:pPr>
            <a:r>
              <a:rPr lang="en-US" sz="1300" dirty="0">
                <a:solidFill>
                  <a:srgbClr val="334155"/>
                </a:solidFill>
                <a:latin typeface="Calibri" pitchFamily="34" charset="0"/>
                <a:ea typeface="Calibri" pitchFamily="34" charset="-122"/>
                <a:cs typeface="Calibri" pitchFamily="34" charset="-120"/>
              </a:rPr>
              <a:t>Build an automated solver that beats (or matches) a human player across a full benchmark of all words.</a:t>
            </a:r>
            <a:endParaRPr lang="en-US" sz="1300" dirty="0"/>
          </a:p>
        </p:txBody>
      </p:sp>
      <p:sp>
        <p:nvSpPr>
          <p:cNvPr id="8" name="Shape 6"/>
          <p:cNvSpPr/>
          <p:nvPr/>
        </p:nvSpPr>
        <p:spPr>
          <a:xfrm>
            <a:off x="5669280" y="960119"/>
            <a:ext cx="3108960" cy="3807325"/>
          </a:xfrm>
          <a:prstGeom prst="rect">
            <a:avLst/>
          </a:prstGeom>
          <a:solidFill>
            <a:srgbClr val="1B2A4A"/>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9" name="Text 7"/>
          <p:cNvSpPr/>
          <p:nvPr/>
        </p:nvSpPr>
        <p:spPr>
          <a:xfrm>
            <a:off x="5760720" y="1051560"/>
            <a:ext cx="2926080" cy="347472"/>
          </a:xfrm>
          <a:prstGeom prst="rect">
            <a:avLst/>
          </a:prstGeom>
          <a:noFill/>
          <a:ln/>
        </p:spPr>
        <p:txBody>
          <a:bodyPr wrap="square" rtlCol="0" anchor="ctr"/>
          <a:lstStyle/>
          <a:p>
            <a:pPr marL="0" indent="0" algn="ctr">
              <a:buNone/>
            </a:pPr>
            <a:r>
              <a:rPr lang="en-US" sz="1400" b="1" dirty="0">
                <a:solidFill>
                  <a:srgbClr val="5EEAD4"/>
                </a:solidFill>
                <a:latin typeface="Georgia" pitchFamily="34" charset="0"/>
                <a:ea typeface="Georgia" pitchFamily="34" charset="-122"/>
                <a:cs typeface="Georgia" pitchFamily="34" charset="-120"/>
              </a:rPr>
              <a:t>Example Game</a:t>
            </a:r>
            <a:endParaRPr lang="en-US" sz="1400" dirty="0"/>
          </a:p>
        </p:txBody>
      </p:sp>
      <p:sp>
        <p:nvSpPr>
          <p:cNvPr id="10" name="Shape 8"/>
          <p:cNvSpPr/>
          <p:nvPr/>
        </p:nvSpPr>
        <p:spPr>
          <a:xfrm>
            <a:off x="5824728" y="1481328"/>
            <a:ext cx="493776" cy="457200"/>
          </a:xfrm>
          <a:prstGeom prst="rect">
            <a:avLst/>
          </a:prstGeom>
          <a:solidFill>
            <a:srgbClr val="EAB308"/>
          </a:solidFill>
          <a:ln w="12700">
            <a:solidFill>
              <a:srgbClr val="EAB308"/>
            </a:solidFill>
            <a:prstDash val="solid"/>
          </a:ln>
        </p:spPr>
        <p:txBody>
          <a:bodyPr/>
          <a:lstStyle/>
          <a:p>
            <a:endParaRPr lang="en-US"/>
          </a:p>
        </p:txBody>
      </p:sp>
      <p:sp>
        <p:nvSpPr>
          <p:cNvPr id="11" name="Text 9"/>
          <p:cNvSpPr/>
          <p:nvPr/>
        </p:nvSpPr>
        <p:spPr>
          <a:xfrm>
            <a:off x="5824728" y="148132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C</a:t>
            </a:r>
            <a:endParaRPr lang="en-US" sz="1500" dirty="0"/>
          </a:p>
        </p:txBody>
      </p:sp>
      <p:sp>
        <p:nvSpPr>
          <p:cNvPr id="12" name="Shape 10"/>
          <p:cNvSpPr/>
          <p:nvPr/>
        </p:nvSpPr>
        <p:spPr>
          <a:xfrm>
            <a:off x="6391656" y="1481328"/>
            <a:ext cx="493776" cy="457200"/>
          </a:xfrm>
          <a:prstGeom prst="rect">
            <a:avLst/>
          </a:prstGeom>
          <a:solidFill>
            <a:srgbClr val="475569"/>
          </a:solidFill>
          <a:ln w="12700">
            <a:solidFill>
              <a:srgbClr val="475569"/>
            </a:solidFill>
            <a:prstDash val="solid"/>
          </a:ln>
        </p:spPr>
        <p:txBody>
          <a:bodyPr/>
          <a:lstStyle/>
          <a:p>
            <a:endParaRPr lang="en-US"/>
          </a:p>
        </p:txBody>
      </p:sp>
      <p:sp>
        <p:nvSpPr>
          <p:cNvPr id="13" name="Text 11"/>
          <p:cNvSpPr/>
          <p:nvPr/>
        </p:nvSpPr>
        <p:spPr>
          <a:xfrm>
            <a:off x="6391656" y="148132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R</a:t>
            </a:r>
            <a:endParaRPr lang="en-US" sz="1500" dirty="0"/>
          </a:p>
        </p:txBody>
      </p:sp>
      <p:sp>
        <p:nvSpPr>
          <p:cNvPr id="14" name="Shape 12"/>
          <p:cNvSpPr/>
          <p:nvPr/>
        </p:nvSpPr>
        <p:spPr>
          <a:xfrm>
            <a:off x="6958584" y="1481328"/>
            <a:ext cx="493776" cy="457200"/>
          </a:xfrm>
          <a:prstGeom prst="rect">
            <a:avLst/>
          </a:prstGeom>
          <a:solidFill>
            <a:srgbClr val="475569"/>
          </a:solidFill>
          <a:ln w="12700">
            <a:solidFill>
              <a:srgbClr val="475569"/>
            </a:solidFill>
            <a:prstDash val="solid"/>
          </a:ln>
        </p:spPr>
        <p:txBody>
          <a:bodyPr/>
          <a:lstStyle/>
          <a:p>
            <a:endParaRPr lang="en-US"/>
          </a:p>
        </p:txBody>
      </p:sp>
      <p:sp>
        <p:nvSpPr>
          <p:cNvPr id="15" name="Text 13"/>
          <p:cNvSpPr/>
          <p:nvPr/>
        </p:nvSpPr>
        <p:spPr>
          <a:xfrm>
            <a:off x="6958584" y="148132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A</a:t>
            </a:r>
            <a:endParaRPr lang="en-US" sz="1500" dirty="0"/>
          </a:p>
        </p:txBody>
      </p:sp>
      <p:sp>
        <p:nvSpPr>
          <p:cNvPr id="16" name="Shape 14"/>
          <p:cNvSpPr/>
          <p:nvPr/>
        </p:nvSpPr>
        <p:spPr>
          <a:xfrm>
            <a:off x="7525512" y="1481328"/>
            <a:ext cx="493776" cy="457200"/>
          </a:xfrm>
          <a:prstGeom prst="rect">
            <a:avLst/>
          </a:prstGeom>
          <a:solidFill>
            <a:srgbClr val="475569"/>
          </a:solidFill>
          <a:ln w="12700">
            <a:solidFill>
              <a:srgbClr val="475569"/>
            </a:solidFill>
            <a:prstDash val="solid"/>
          </a:ln>
        </p:spPr>
        <p:txBody>
          <a:bodyPr/>
          <a:lstStyle/>
          <a:p>
            <a:endParaRPr lang="en-US"/>
          </a:p>
        </p:txBody>
      </p:sp>
      <p:sp>
        <p:nvSpPr>
          <p:cNvPr id="17" name="Text 15"/>
          <p:cNvSpPr/>
          <p:nvPr/>
        </p:nvSpPr>
        <p:spPr>
          <a:xfrm>
            <a:off x="7525512" y="148132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N</a:t>
            </a:r>
            <a:endParaRPr lang="en-US" sz="1500" dirty="0"/>
          </a:p>
        </p:txBody>
      </p:sp>
      <p:sp>
        <p:nvSpPr>
          <p:cNvPr id="18" name="Shape 16"/>
          <p:cNvSpPr/>
          <p:nvPr/>
        </p:nvSpPr>
        <p:spPr>
          <a:xfrm>
            <a:off x="8092440" y="1481328"/>
            <a:ext cx="493776" cy="457200"/>
          </a:xfrm>
          <a:prstGeom prst="rect">
            <a:avLst/>
          </a:prstGeom>
          <a:solidFill>
            <a:srgbClr val="22C55E"/>
          </a:solidFill>
          <a:ln w="12700">
            <a:solidFill>
              <a:srgbClr val="22C55E"/>
            </a:solidFill>
            <a:prstDash val="solid"/>
          </a:ln>
        </p:spPr>
        <p:txBody>
          <a:bodyPr/>
          <a:lstStyle/>
          <a:p>
            <a:endParaRPr lang="en-US"/>
          </a:p>
        </p:txBody>
      </p:sp>
      <p:sp>
        <p:nvSpPr>
          <p:cNvPr id="19" name="Text 17"/>
          <p:cNvSpPr/>
          <p:nvPr/>
        </p:nvSpPr>
        <p:spPr>
          <a:xfrm>
            <a:off x="8092440" y="148132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E</a:t>
            </a:r>
            <a:endParaRPr lang="en-US" sz="1500" dirty="0"/>
          </a:p>
        </p:txBody>
      </p:sp>
      <p:sp>
        <p:nvSpPr>
          <p:cNvPr id="20" name="Shape 18"/>
          <p:cNvSpPr/>
          <p:nvPr/>
        </p:nvSpPr>
        <p:spPr>
          <a:xfrm>
            <a:off x="5824728" y="2011680"/>
            <a:ext cx="493776" cy="457200"/>
          </a:xfrm>
          <a:prstGeom prst="rect">
            <a:avLst/>
          </a:prstGeom>
          <a:solidFill>
            <a:srgbClr val="475569"/>
          </a:solidFill>
          <a:ln w="12700">
            <a:solidFill>
              <a:srgbClr val="475569"/>
            </a:solidFill>
            <a:prstDash val="solid"/>
          </a:ln>
        </p:spPr>
        <p:txBody>
          <a:bodyPr/>
          <a:lstStyle/>
          <a:p>
            <a:endParaRPr lang="en-US"/>
          </a:p>
        </p:txBody>
      </p:sp>
      <p:sp>
        <p:nvSpPr>
          <p:cNvPr id="21" name="Text 19"/>
          <p:cNvSpPr/>
          <p:nvPr/>
        </p:nvSpPr>
        <p:spPr>
          <a:xfrm>
            <a:off x="5824728" y="2011680"/>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C</a:t>
            </a:r>
            <a:endParaRPr lang="en-US" sz="1500" dirty="0"/>
          </a:p>
        </p:txBody>
      </p:sp>
      <p:sp>
        <p:nvSpPr>
          <p:cNvPr id="22" name="Shape 20"/>
          <p:cNvSpPr/>
          <p:nvPr/>
        </p:nvSpPr>
        <p:spPr>
          <a:xfrm>
            <a:off x="6391656" y="2011680"/>
            <a:ext cx="493776" cy="457200"/>
          </a:xfrm>
          <a:prstGeom prst="rect">
            <a:avLst/>
          </a:prstGeom>
          <a:solidFill>
            <a:srgbClr val="475569"/>
          </a:solidFill>
          <a:ln w="12700">
            <a:solidFill>
              <a:srgbClr val="475569"/>
            </a:solidFill>
            <a:prstDash val="solid"/>
          </a:ln>
        </p:spPr>
        <p:txBody>
          <a:bodyPr/>
          <a:lstStyle/>
          <a:p>
            <a:endParaRPr lang="en-US"/>
          </a:p>
        </p:txBody>
      </p:sp>
      <p:sp>
        <p:nvSpPr>
          <p:cNvPr id="23" name="Text 21"/>
          <p:cNvSpPr/>
          <p:nvPr/>
        </p:nvSpPr>
        <p:spPr>
          <a:xfrm>
            <a:off x="6391656" y="2011680"/>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O</a:t>
            </a:r>
            <a:endParaRPr lang="en-US" sz="1500" dirty="0"/>
          </a:p>
        </p:txBody>
      </p:sp>
      <p:sp>
        <p:nvSpPr>
          <p:cNvPr id="24" name="Shape 22"/>
          <p:cNvSpPr/>
          <p:nvPr/>
        </p:nvSpPr>
        <p:spPr>
          <a:xfrm>
            <a:off x="6958584" y="2011680"/>
            <a:ext cx="493776" cy="457200"/>
          </a:xfrm>
          <a:prstGeom prst="rect">
            <a:avLst/>
          </a:prstGeom>
          <a:solidFill>
            <a:srgbClr val="475569"/>
          </a:solidFill>
          <a:ln w="12700">
            <a:solidFill>
              <a:srgbClr val="475569"/>
            </a:solidFill>
            <a:prstDash val="solid"/>
          </a:ln>
        </p:spPr>
        <p:txBody>
          <a:bodyPr/>
          <a:lstStyle/>
          <a:p>
            <a:endParaRPr lang="en-US"/>
          </a:p>
        </p:txBody>
      </p:sp>
      <p:sp>
        <p:nvSpPr>
          <p:cNvPr id="25" name="Text 23"/>
          <p:cNvSpPr/>
          <p:nvPr/>
        </p:nvSpPr>
        <p:spPr>
          <a:xfrm>
            <a:off x="6958584" y="2011680"/>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U</a:t>
            </a:r>
            <a:endParaRPr lang="en-US" sz="1500" dirty="0"/>
          </a:p>
        </p:txBody>
      </p:sp>
      <p:sp>
        <p:nvSpPr>
          <p:cNvPr id="26" name="Shape 24"/>
          <p:cNvSpPr/>
          <p:nvPr/>
        </p:nvSpPr>
        <p:spPr>
          <a:xfrm>
            <a:off x="7525512" y="2011680"/>
            <a:ext cx="493776" cy="457200"/>
          </a:xfrm>
          <a:prstGeom prst="rect">
            <a:avLst/>
          </a:prstGeom>
          <a:solidFill>
            <a:srgbClr val="475569"/>
          </a:solidFill>
          <a:ln w="12700">
            <a:solidFill>
              <a:srgbClr val="475569"/>
            </a:solidFill>
            <a:prstDash val="solid"/>
          </a:ln>
        </p:spPr>
        <p:txBody>
          <a:bodyPr/>
          <a:lstStyle/>
          <a:p>
            <a:endParaRPr lang="en-US"/>
          </a:p>
        </p:txBody>
      </p:sp>
      <p:sp>
        <p:nvSpPr>
          <p:cNvPr id="27" name="Text 25"/>
          <p:cNvSpPr/>
          <p:nvPr/>
        </p:nvSpPr>
        <p:spPr>
          <a:xfrm>
            <a:off x="7525512" y="2011680"/>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L</a:t>
            </a:r>
            <a:endParaRPr lang="en-US" sz="1500" dirty="0"/>
          </a:p>
        </p:txBody>
      </p:sp>
      <p:sp>
        <p:nvSpPr>
          <p:cNvPr id="28" name="Shape 26"/>
          <p:cNvSpPr/>
          <p:nvPr/>
        </p:nvSpPr>
        <p:spPr>
          <a:xfrm>
            <a:off x="8092440" y="2011680"/>
            <a:ext cx="493776" cy="457200"/>
          </a:xfrm>
          <a:prstGeom prst="rect">
            <a:avLst/>
          </a:prstGeom>
          <a:solidFill>
            <a:srgbClr val="475569"/>
          </a:solidFill>
          <a:ln w="12700">
            <a:solidFill>
              <a:srgbClr val="475569"/>
            </a:solidFill>
            <a:prstDash val="solid"/>
          </a:ln>
        </p:spPr>
        <p:txBody>
          <a:bodyPr/>
          <a:lstStyle/>
          <a:p>
            <a:endParaRPr lang="en-US"/>
          </a:p>
        </p:txBody>
      </p:sp>
      <p:sp>
        <p:nvSpPr>
          <p:cNvPr id="29" name="Text 27"/>
          <p:cNvSpPr/>
          <p:nvPr/>
        </p:nvSpPr>
        <p:spPr>
          <a:xfrm>
            <a:off x="8092440" y="2011680"/>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D</a:t>
            </a:r>
            <a:endParaRPr lang="en-US" sz="1500" dirty="0"/>
          </a:p>
        </p:txBody>
      </p:sp>
      <p:sp>
        <p:nvSpPr>
          <p:cNvPr id="30" name="Shape 28"/>
          <p:cNvSpPr/>
          <p:nvPr/>
        </p:nvSpPr>
        <p:spPr>
          <a:xfrm>
            <a:off x="5824728" y="2542032"/>
            <a:ext cx="493776" cy="457200"/>
          </a:xfrm>
          <a:prstGeom prst="rect">
            <a:avLst/>
          </a:prstGeom>
          <a:solidFill>
            <a:srgbClr val="475569"/>
          </a:solidFill>
          <a:ln w="12700">
            <a:solidFill>
              <a:srgbClr val="475569"/>
            </a:solidFill>
            <a:prstDash val="solid"/>
          </a:ln>
        </p:spPr>
        <p:txBody>
          <a:bodyPr/>
          <a:lstStyle/>
          <a:p>
            <a:endParaRPr lang="en-US"/>
          </a:p>
        </p:txBody>
      </p:sp>
      <p:sp>
        <p:nvSpPr>
          <p:cNvPr id="31" name="Text 29"/>
          <p:cNvSpPr/>
          <p:nvPr/>
        </p:nvSpPr>
        <p:spPr>
          <a:xfrm>
            <a:off x="5824728" y="2542032"/>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T</a:t>
            </a:r>
            <a:endParaRPr lang="en-US" sz="1500" dirty="0"/>
          </a:p>
        </p:txBody>
      </p:sp>
      <p:sp>
        <p:nvSpPr>
          <p:cNvPr id="32" name="Shape 30"/>
          <p:cNvSpPr/>
          <p:nvPr/>
        </p:nvSpPr>
        <p:spPr>
          <a:xfrm>
            <a:off x="6391656" y="2542032"/>
            <a:ext cx="493776" cy="457200"/>
          </a:xfrm>
          <a:prstGeom prst="rect">
            <a:avLst/>
          </a:prstGeom>
          <a:solidFill>
            <a:srgbClr val="475569"/>
          </a:solidFill>
          <a:ln w="12700">
            <a:solidFill>
              <a:srgbClr val="475569"/>
            </a:solidFill>
            <a:prstDash val="solid"/>
          </a:ln>
        </p:spPr>
        <p:txBody>
          <a:bodyPr/>
          <a:lstStyle/>
          <a:p>
            <a:endParaRPr lang="en-US"/>
          </a:p>
        </p:txBody>
      </p:sp>
      <p:sp>
        <p:nvSpPr>
          <p:cNvPr id="33" name="Text 31"/>
          <p:cNvSpPr/>
          <p:nvPr/>
        </p:nvSpPr>
        <p:spPr>
          <a:xfrm>
            <a:off x="6391656" y="2542032"/>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I</a:t>
            </a:r>
            <a:endParaRPr lang="en-US" sz="1500" dirty="0"/>
          </a:p>
        </p:txBody>
      </p:sp>
      <p:sp>
        <p:nvSpPr>
          <p:cNvPr id="34" name="Shape 32"/>
          <p:cNvSpPr/>
          <p:nvPr/>
        </p:nvSpPr>
        <p:spPr>
          <a:xfrm>
            <a:off x="6958584" y="2542032"/>
            <a:ext cx="493776" cy="457200"/>
          </a:xfrm>
          <a:prstGeom prst="rect">
            <a:avLst/>
          </a:prstGeom>
          <a:solidFill>
            <a:srgbClr val="22C55E"/>
          </a:solidFill>
          <a:ln w="12700">
            <a:solidFill>
              <a:srgbClr val="22C55E"/>
            </a:solidFill>
            <a:prstDash val="solid"/>
          </a:ln>
        </p:spPr>
        <p:txBody>
          <a:bodyPr/>
          <a:lstStyle/>
          <a:p>
            <a:endParaRPr lang="en-US"/>
          </a:p>
        </p:txBody>
      </p:sp>
      <p:sp>
        <p:nvSpPr>
          <p:cNvPr id="35" name="Text 33"/>
          <p:cNvSpPr/>
          <p:nvPr/>
        </p:nvSpPr>
        <p:spPr>
          <a:xfrm>
            <a:off x="6958584" y="2542032"/>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G</a:t>
            </a:r>
            <a:endParaRPr lang="en-US" sz="1500" dirty="0"/>
          </a:p>
        </p:txBody>
      </p:sp>
      <p:sp>
        <p:nvSpPr>
          <p:cNvPr id="36" name="Shape 34"/>
          <p:cNvSpPr/>
          <p:nvPr/>
        </p:nvSpPr>
        <p:spPr>
          <a:xfrm>
            <a:off x="7525512" y="2542032"/>
            <a:ext cx="493776" cy="457200"/>
          </a:xfrm>
          <a:prstGeom prst="rect">
            <a:avLst/>
          </a:prstGeom>
          <a:solidFill>
            <a:srgbClr val="22C55E"/>
          </a:solidFill>
          <a:ln w="12700">
            <a:solidFill>
              <a:srgbClr val="22C55E"/>
            </a:solidFill>
            <a:prstDash val="solid"/>
          </a:ln>
        </p:spPr>
        <p:txBody>
          <a:bodyPr/>
          <a:lstStyle/>
          <a:p>
            <a:endParaRPr lang="en-US"/>
          </a:p>
        </p:txBody>
      </p:sp>
      <p:sp>
        <p:nvSpPr>
          <p:cNvPr id="37" name="Text 35"/>
          <p:cNvSpPr/>
          <p:nvPr/>
        </p:nvSpPr>
        <p:spPr>
          <a:xfrm>
            <a:off x="7525512" y="2542032"/>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E</a:t>
            </a:r>
            <a:endParaRPr lang="en-US" sz="1500" dirty="0"/>
          </a:p>
        </p:txBody>
      </p:sp>
      <p:sp>
        <p:nvSpPr>
          <p:cNvPr id="38" name="Shape 36"/>
          <p:cNvSpPr/>
          <p:nvPr/>
        </p:nvSpPr>
        <p:spPr>
          <a:xfrm>
            <a:off x="8092440" y="2542032"/>
            <a:ext cx="493776" cy="457200"/>
          </a:xfrm>
          <a:prstGeom prst="rect">
            <a:avLst/>
          </a:prstGeom>
          <a:solidFill>
            <a:srgbClr val="22C55E"/>
          </a:solidFill>
          <a:ln w="12700">
            <a:solidFill>
              <a:srgbClr val="22C55E"/>
            </a:solidFill>
            <a:prstDash val="solid"/>
          </a:ln>
        </p:spPr>
        <p:txBody>
          <a:bodyPr/>
          <a:lstStyle/>
          <a:p>
            <a:endParaRPr lang="en-US"/>
          </a:p>
        </p:txBody>
      </p:sp>
      <p:sp>
        <p:nvSpPr>
          <p:cNvPr id="39" name="Text 37"/>
          <p:cNvSpPr/>
          <p:nvPr/>
        </p:nvSpPr>
        <p:spPr>
          <a:xfrm>
            <a:off x="8092440" y="2542032"/>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R</a:t>
            </a:r>
            <a:endParaRPr lang="en-US" sz="1500" dirty="0"/>
          </a:p>
        </p:txBody>
      </p:sp>
      <p:sp>
        <p:nvSpPr>
          <p:cNvPr id="40" name="Shape 38"/>
          <p:cNvSpPr/>
          <p:nvPr/>
        </p:nvSpPr>
        <p:spPr>
          <a:xfrm>
            <a:off x="5824728" y="3072384"/>
            <a:ext cx="493776" cy="457200"/>
          </a:xfrm>
          <a:prstGeom prst="rect">
            <a:avLst/>
          </a:prstGeom>
          <a:solidFill>
            <a:srgbClr val="475569"/>
          </a:solidFill>
          <a:ln w="12700">
            <a:solidFill>
              <a:srgbClr val="475569"/>
            </a:solidFill>
            <a:prstDash val="solid"/>
          </a:ln>
        </p:spPr>
        <p:txBody>
          <a:bodyPr/>
          <a:lstStyle/>
          <a:p>
            <a:endParaRPr lang="en-US"/>
          </a:p>
        </p:txBody>
      </p:sp>
      <p:sp>
        <p:nvSpPr>
          <p:cNvPr id="41" name="Text 39"/>
          <p:cNvSpPr/>
          <p:nvPr/>
        </p:nvSpPr>
        <p:spPr>
          <a:xfrm>
            <a:off x="5824728" y="3072384"/>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L</a:t>
            </a:r>
            <a:endParaRPr lang="en-US" sz="1500" dirty="0"/>
          </a:p>
        </p:txBody>
      </p:sp>
      <p:sp>
        <p:nvSpPr>
          <p:cNvPr id="42" name="Shape 40"/>
          <p:cNvSpPr/>
          <p:nvPr/>
        </p:nvSpPr>
        <p:spPr>
          <a:xfrm>
            <a:off x="6391656" y="3072384"/>
            <a:ext cx="493776" cy="457200"/>
          </a:xfrm>
          <a:prstGeom prst="rect">
            <a:avLst/>
          </a:prstGeom>
          <a:solidFill>
            <a:srgbClr val="475569"/>
          </a:solidFill>
          <a:ln w="12700">
            <a:solidFill>
              <a:srgbClr val="475569"/>
            </a:solidFill>
            <a:prstDash val="solid"/>
          </a:ln>
        </p:spPr>
        <p:txBody>
          <a:bodyPr/>
          <a:lstStyle/>
          <a:p>
            <a:endParaRPr lang="en-US"/>
          </a:p>
        </p:txBody>
      </p:sp>
      <p:sp>
        <p:nvSpPr>
          <p:cNvPr id="43" name="Text 41"/>
          <p:cNvSpPr/>
          <p:nvPr/>
        </p:nvSpPr>
        <p:spPr>
          <a:xfrm>
            <a:off x="6391656" y="3072384"/>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I</a:t>
            </a:r>
            <a:endParaRPr lang="en-US" sz="1500" dirty="0"/>
          </a:p>
        </p:txBody>
      </p:sp>
      <p:sp>
        <p:nvSpPr>
          <p:cNvPr id="44" name="Shape 42"/>
          <p:cNvSpPr/>
          <p:nvPr/>
        </p:nvSpPr>
        <p:spPr>
          <a:xfrm>
            <a:off x="6958584" y="3072384"/>
            <a:ext cx="493776" cy="457200"/>
          </a:xfrm>
          <a:prstGeom prst="rect">
            <a:avLst/>
          </a:prstGeom>
          <a:solidFill>
            <a:srgbClr val="22C55E"/>
          </a:solidFill>
          <a:ln w="12700">
            <a:solidFill>
              <a:srgbClr val="22C55E"/>
            </a:solidFill>
            <a:prstDash val="solid"/>
          </a:ln>
        </p:spPr>
        <p:txBody>
          <a:bodyPr/>
          <a:lstStyle/>
          <a:p>
            <a:endParaRPr lang="en-US"/>
          </a:p>
        </p:txBody>
      </p:sp>
      <p:sp>
        <p:nvSpPr>
          <p:cNvPr id="45" name="Text 43"/>
          <p:cNvSpPr/>
          <p:nvPr/>
        </p:nvSpPr>
        <p:spPr>
          <a:xfrm>
            <a:off x="6958584" y="3072384"/>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V</a:t>
            </a:r>
            <a:endParaRPr lang="en-US" sz="1500" dirty="0"/>
          </a:p>
        </p:txBody>
      </p:sp>
      <p:sp>
        <p:nvSpPr>
          <p:cNvPr id="46" name="Shape 44"/>
          <p:cNvSpPr/>
          <p:nvPr/>
        </p:nvSpPr>
        <p:spPr>
          <a:xfrm>
            <a:off x="7525512" y="3072384"/>
            <a:ext cx="493776" cy="457200"/>
          </a:xfrm>
          <a:prstGeom prst="rect">
            <a:avLst/>
          </a:prstGeom>
          <a:solidFill>
            <a:srgbClr val="22C55E"/>
          </a:solidFill>
          <a:ln w="12700">
            <a:solidFill>
              <a:srgbClr val="22C55E"/>
            </a:solidFill>
            <a:prstDash val="solid"/>
          </a:ln>
        </p:spPr>
        <p:txBody>
          <a:bodyPr/>
          <a:lstStyle/>
          <a:p>
            <a:endParaRPr lang="en-US"/>
          </a:p>
        </p:txBody>
      </p:sp>
      <p:sp>
        <p:nvSpPr>
          <p:cNvPr id="47" name="Text 45"/>
          <p:cNvSpPr/>
          <p:nvPr/>
        </p:nvSpPr>
        <p:spPr>
          <a:xfrm>
            <a:off x="7525512" y="3072384"/>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E</a:t>
            </a:r>
            <a:endParaRPr lang="en-US" sz="1500" dirty="0"/>
          </a:p>
        </p:txBody>
      </p:sp>
      <p:sp>
        <p:nvSpPr>
          <p:cNvPr id="48" name="Shape 46"/>
          <p:cNvSpPr/>
          <p:nvPr/>
        </p:nvSpPr>
        <p:spPr>
          <a:xfrm>
            <a:off x="8092440" y="3072384"/>
            <a:ext cx="493776" cy="457200"/>
          </a:xfrm>
          <a:prstGeom prst="rect">
            <a:avLst/>
          </a:prstGeom>
          <a:solidFill>
            <a:srgbClr val="22C55E"/>
          </a:solidFill>
          <a:ln w="12700">
            <a:solidFill>
              <a:srgbClr val="22C55E"/>
            </a:solidFill>
            <a:prstDash val="solid"/>
          </a:ln>
        </p:spPr>
        <p:txBody>
          <a:bodyPr/>
          <a:lstStyle/>
          <a:p>
            <a:endParaRPr lang="en-US"/>
          </a:p>
        </p:txBody>
      </p:sp>
      <p:sp>
        <p:nvSpPr>
          <p:cNvPr id="49" name="Text 47"/>
          <p:cNvSpPr/>
          <p:nvPr/>
        </p:nvSpPr>
        <p:spPr>
          <a:xfrm>
            <a:off x="8092440" y="3072384"/>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R</a:t>
            </a:r>
            <a:endParaRPr lang="en-US" sz="1500" dirty="0"/>
          </a:p>
        </p:txBody>
      </p:sp>
      <p:sp>
        <p:nvSpPr>
          <p:cNvPr id="50" name="Shape 48"/>
          <p:cNvSpPr/>
          <p:nvPr/>
        </p:nvSpPr>
        <p:spPr>
          <a:xfrm>
            <a:off x="5824728" y="3602736"/>
            <a:ext cx="493776" cy="457200"/>
          </a:xfrm>
          <a:prstGeom prst="rect">
            <a:avLst/>
          </a:prstGeom>
          <a:solidFill>
            <a:srgbClr val="475569"/>
          </a:solidFill>
          <a:ln w="12700">
            <a:solidFill>
              <a:srgbClr val="475569"/>
            </a:solidFill>
            <a:prstDash val="solid"/>
          </a:ln>
        </p:spPr>
        <p:txBody>
          <a:bodyPr/>
          <a:lstStyle/>
          <a:p>
            <a:endParaRPr lang="en-US"/>
          </a:p>
        </p:txBody>
      </p:sp>
      <p:sp>
        <p:nvSpPr>
          <p:cNvPr id="51" name="Text 49"/>
          <p:cNvSpPr/>
          <p:nvPr/>
        </p:nvSpPr>
        <p:spPr>
          <a:xfrm>
            <a:off x="5824728" y="3602736"/>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D</a:t>
            </a:r>
            <a:endParaRPr lang="en-US" sz="1500" dirty="0"/>
          </a:p>
        </p:txBody>
      </p:sp>
      <p:sp>
        <p:nvSpPr>
          <p:cNvPr id="52" name="Shape 50"/>
          <p:cNvSpPr/>
          <p:nvPr/>
        </p:nvSpPr>
        <p:spPr>
          <a:xfrm>
            <a:off x="6391656" y="3602736"/>
            <a:ext cx="493776" cy="457200"/>
          </a:xfrm>
          <a:prstGeom prst="rect">
            <a:avLst/>
          </a:prstGeom>
          <a:solidFill>
            <a:srgbClr val="475569"/>
          </a:solidFill>
          <a:ln w="12700">
            <a:solidFill>
              <a:srgbClr val="475569"/>
            </a:solidFill>
            <a:prstDash val="solid"/>
          </a:ln>
        </p:spPr>
        <p:txBody>
          <a:bodyPr/>
          <a:lstStyle/>
          <a:p>
            <a:endParaRPr lang="en-US"/>
          </a:p>
        </p:txBody>
      </p:sp>
      <p:sp>
        <p:nvSpPr>
          <p:cNvPr id="53" name="Text 51"/>
          <p:cNvSpPr/>
          <p:nvPr/>
        </p:nvSpPr>
        <p:spPr>
          <a:xfrm>
            <a:off x="6391656" y="3602736"/>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I</a:t>
            </a:r>
            <a:endParaRPr lang="en-US" sz="1500" dirty="0"/>
          </a:p>
        </p:txBody>
      </p:sp>
      <p:sp>
        <p:nvSpPr>
          <p:cNvPr id="54" name="Shape 52"/>
          <p:cNvSpPr/>
          <p:nvPr/>
        </p:nvSpPr>
        <p:spPr>
          <a:xfrm>
            <a:off x="6958584" y="3602736"/>
            <a:ext cx="493776" cy="457200"/>
          </a:xfrm>
          <a:prstGeom prst="rect">
            <a:avLst/>
          </a:prstGeom>
          <a:solidFill>
            <a:srgbClr val="22C55E"/>
          </a:solidFill>
          <a:ln w="12700">
            <a:solidFill>
              <a:srgbClr val="22C55E"/>
            </a:solidFill>
            <a:prstDash val="solid"/>
          </a:ln>
        </p:spPr>
        <p:txBody>
          <a:bodyPr/>
          <a:lstStyle/>
          <a:p>
            <a:endParaRPr lang="en-US"/>
          </a:p>
        </p:txBody>
      </p:sp>
      <p:sp>
        <p:nvSpPr>
          <p:cNvPr id="55" name="Text 53"/>
          <p:cNvSpPr/>
          <p:nvPr/>
        </p:nvSpPr>
        <p:spPr>
          <a:xfrm>
            <a:off x="6958584" y="3602736"/>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N</a:t>
            </a:r>
            <a:endParaRPr lang="en-US" sz="1500" dirty="0"/>
          </a:p>
        </p:txBody>
      </p:sp>
      <p:sp>
        <p:nvSpPr>
          <p:cNvPr id="56" name="Shape 54"/>
          <p:cNvSpPr/>
          <p:nvPr/>
        </p:nvSpPr>
        <p:spPr>
          <a:xfrm>
            <a:off x="7525512" y="3602736"/>
            <a:ext cx="493776" cy="457200"/>
          </a:xfrm>
          <a:prstGeom prst="rect">
            <a:avLst/>
          </a:prstGeom>
          <a:solidFill>
            <a:srgbClr val="22C55E"/>
          </a:solidFill>
          <a:ln w="12700">
            <a:solidFill>
              <a:srgbClr val="22C55E"/>
            </a:solidFill>
            <a:prstDash val="solid"/>
          </a:ln>
        </p:spPr>
        <p:txBody>
          <a:bodyPr/>
          <a:lstStyle/>
          <a:p>
            <a:endParaRPr lang="en-US"/>
          </a:p>
        </p:txBody>
      </p:sp>
      <p:sp>
        <p:nvSpPr>
          <p:cNvPr id="57" name="Text 55"/>
          <p:cNvSpPr/>
          <p:nvPr/>
        </p:nvSpPr>
        <p:spPr>
          <a:xfrm>
            <a:off x="7525512" y="3602736"/>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E</a:t>
            </a:r>
            <a:endParaRPr lang="en-US" sz="1500" dirty="0"/>
          </a:p>
        </p:txBody>
      </p:sp>
      <p:sp>
        <p:nvSpPr>
          <p:cNvPr id="58" name="Shape 56"/>
          <p:cNvSpPr/>
          <p:nvPr/>
        </p:nvSpPr>
        <p:spPr>
          <a:xfrm>
            <a:off x="8092440" y="3602736"/>
            <a:ext cx="493776" cy="457200"/>
          </a:xfrm>
          <a:prstGeom prst="rect">
            <a:avLst/>
          </a:prstGeom>
          <a:solidFill>
            <a:srgbClr val="22C55E"/>
          </a:solidFill>
          <a:ln w="12700">
            <a:solidFill>
              <a:srgbClr val="22C55E"/>
            </a:solidFill>
            <a:prstDash val="solid"/>
          </a:ln>
        </p:spPr>
        <p:txBody>
          <a:bodyPr/>
          <a:lstStyle/>
          <a:p>
            <a:endParaRPr lang="en-US"/>
          </a:p>
        </p:txBody>
      </p:sp>
      <p:sp>
        <p:nvSpPr>
          <p:cNvPr id="59" name="Text 57"/>
          <p:cNvSpPr/>
          <p:nvPr/>
        </p:nvSpPr>
        <p:spPr>
          <a:xfrm>
            <a:off x="8092440" y="3602736"/>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R</a:t>
            </a:r>
            <a:endParaRPr lang="en-US" sz="1500" dirty="0"/>
          </a:p>
        </p:txBody>
      </p:sp>
      <p:sp>
        <p:nvSpPr>
          <p:cNvPr id="60" name="Shape 58"/>
          <p:cNvSpPr/>
          <p:nvPr/>
        </p:nvSpPr>
        <p:spPr>
          <a:xfrm>
            <a:off x="5824728" y="4133088"/>
            <a:ext cx="493776" cy="457200"/>
          </a:xfrm>
          <a:prstGeom prst="rect">
            <a:avLst/>
          </a:prstGeom>
          <a:solidFill>
            <a:srgbClr val="22C55E"/>
          </a:solidFill>
          <a:ln w="12700">
            <a:solidFill>
              <a:srgbClr val="22C55E"/>
            </a:solidFill>
            <a:prstDash val="solid"/>
          </a:ln>
        </p:spPr>
        <p:txBody>
          <a:bodyPr/>
          <a:lstStyle/>
          <a:p>
            <a:endParaRPr lang="en-US"/>
          </a:p>
        </p:txBody>
      </p:sp>
      <p:sp>
        <p:nvSpPr>
          <p:cNvPr id="61" name="Text 59"/>
          <p:cNvSpPr/>
          <p:nvPr/>
        </p:nvSpPr>
        <p:spPr>
          <a:xfrm>
            <a:off x="5824728" y="413308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M</a:t>
            </a:r>
            <a:endParaRPr lang="en-US" sz="1500" dirty="0"/>
          </a:p>
        </p:txBody>
      </p:sp>
      <p:sp>
        <p:nvSpPr>
          <p:cNvPr id="62" name="Shape 60"/>
          <p:cNvSpPr/>
          <p:nvPr/>
        </p:nvSpPr>
        <p:spPr>
          <a:xfrm>
            <a:off x="6391656" y="4133088"/>
            <a:ext cx="493776" cy="457200"/>
          </a:xfrm>
          <a:prstGeom prst="rect">
            <a:avLst/>
          </a:prstGeom>
          <a:solidFill>
            <a:srgbClr val="22C55E"/>
          </a:solidFill>
          <a:ln w="12700">
            <a:solidFill>
              <a:srgbClr val="22C55E"/>
            </a:solidFill>
            <a:prstDash val="solid"/>
          </a:ln>
        </p:spPr>
        <p:txBody>
          <a:bodyPr/>
          <a:lstStyle/>
          <a:p>
            <a:endParaRPr lang="en-US"/>
          </a:p>
        </p:txBody>
      </p:sp>
      <p:sp>
        <p:nvSpPr>
          <p:cNvPr id="63" name="Text 61"/>
          <p:cNvSpPr/>
          <p:nvPr/>
        </p:nvSpPr>
        <p:spPr>
          <a:xfrm>
            <a:off x="6391656" y="413308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I</a:t>
            </a:r>
            <a:endParaRPr lang="en-US" sz="1500" dirty="0"/>
          </a:p>
        </p:txBody>
      </p:sp>
      <p:sp>
        <p:nvSpPr>
          <p:cNvPr id="64" name="Shape 62"/>
          <p:cNvSpPr/>
          <p:nvPr/>
        </p:nvSpPr>
        <p:spPr>
          <a:xfrm>
            <a:off x="6958584" y="4133088"/>
            <a:ext cx="493776" cy="457200"/>
          </a:xfrm>
          <a:prstGeom prst="rect">
            <a:avLst/>
          </a:prstGeom>
          <a:solidFill>
            <a:srgbClr val="22C55E"/>
          </a:solidFill>
          <a:ln w="12700">
            <a:solidFill>
              <a:srgbClr val="22C55E"/>
            </a:solidFill>
            <a:prstDash val="solid"/>
          </a:ln>
        </p:spPr>
        <p:txBody>
          <a:bodyPr/>
          <a:lstStyle/>
          <a:p>
            <a:endParaRPr lang="en-US"/>
          </a:p>
        </p:txBody>
      </p:sp>
      <p:sp>
        <p:nvSpPr>
          <p:cNvPr id="65" name="Text 63"/>
          <p:cNvSpPr/>
          <p:nvPr/>
        </p:nvSpPr>
        <p:spPr>
          <a:xfrm>
            <a:off x="6958584" y="413308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N</a:t>
            </a:r>
            <a:endParaRPr lang="en-US" sz="1500" dirty="0"/>
          </a:p>
        </p:txBody>
      </p:sp>
      <p:sp>
        <p:nvSpPr>
          <p:cNvPr id="66" name="Shape 64"/>
          <p:cNvSpPr/>
          <p:nvPr/>
        </p:nvSpPr>
        <p:spPr>
          <a:xfrm>
            <a:off x="7525512" y="4133088"/>
            <a:ext cx="493776" cy="457200"/>
          </a:xfrm>
          <a:prstGeom prst="rect">
            <a:avLst/>
          </a:prstGeom>
          <a:solidFill>
            <a:srgbClr val="22C55E"/>
          </a:solidFill>
          <a:ln w="12700">
            <a:solidFill>
              <a:srgbClr val="22C55E"/>
            </a:solidFill>
            <a:prstDash val="solid"/>
          </a:ln>
        </p:spPr>
        <p:txBody>
          <a:bodyPr/>
          <a:lstStyle/>
          <a:p>
            <a:endParaRPr lang="en-US"/>
          </a:p>
        </p:txBody>
      </p:sp>
      <p:sp>
        <p:nvSpPr>
          <p:cNvPr id="67" name="Text 65"/>
          <p:cNvSpPr/>
          <p:nvPr/>
        </p:nvSpPr>
        <p:spPr>
          <a:xfrm>
            <a:off x="7525512" y="413308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E</a:t>
            </a:r>
            <a:endParaRPr lang="en-US" sz="1500" dirty="0"/>
          </a:p>
        </p:txBody>
      </p:sp>
      <p:sp>
        <p:nvSpPr>
          <p:cNvPr id="68" name="Shape 66"/>
          <p:cNvSpPr/>
          <p:nvPr/>
        </p:nvSpPr>
        <p:spPr>
          <a:xfrm>
            <a:off x="8092440" y="4133088"/>
            <a:ext cx="493776" cy="457200"/>
          </a:xfrm>
          <a:prstGeom prst="rect">
            <a:avLst/>
          </a:prstGeom>
          <a:solidFill>
            <a:srgbClr val="22C55E"/>
          </a:solidFill>
          <a:ln w="12700">
            <a:solidFill>
              <a:srgbClr val="22C55E"/>
            </a:solidFill>
            <a:prstDash val="solid"/>
          </a:ln>
        </p:spPr>
        <p:txBody>
          <a:bodyPr/>
          <a:lstStyle/>
          <a:p>
            <a:endParaRPr lang="en-US"/>
          </a:p>
        </p:txBody>
      </p:sp>
      <p:sp>
        <p:nvSpPr>
          <p:cNvPr id="69" name="Text 67"/>
          <p:cNvSpPr/>
          <p:nvPr/>
        </p:nvSpPr>
        <p:spPr>
          <a:xfrm>
            <a:off x="8092440" y="4133088"/>
            <a:ext cx="493776" cy="457200"/>
          </a:xfrm>
          <a:prstGeom prst="rect">
            <a:avLst/>
          </a:prstGeom>
          <a:noFill/>
          <a:ln/>
        </p:spPr>
        <p:txBody>
          <a:bodyPr wrap="square" lIns="0" tIns="0" rIns="0" bIns="0" rtlCol="0" anchor="ctr"/>
          <a:lstStyle/>
          <a:p>
            <a:pPr marL="0" indent="0" algn="ctr">
              <a:buNone/>
            </a:pPr>
            <a:r>
              <a:rPr lang="en-US" sz="1500" b="1" dirty="0">
                <a:solidFill>
                  <a:srgbClr val="FFFFFF"/>
                </a:solidFill>
              </a:rPr>
              <a:t>R</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6"/>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713232"/>
            <a:ext cx="9144000" cy="50292"/>
          </a:xfrm>
          <a:prstGeom prst="rect">
            <a:avLst/>
          </a:prstGeom>
          <a:solidFill>
            <a:srgbClr val="0D9488"/>
          </a:solidFill>
          <a:ln w="12700">
            <a:solidFill>
              <a:srgbClr val="0D9488"/>
            </a:solidFill>
            <a:prstDash val="solid"/>
          </a:ln>
        </p:spPr>
        <p:txBody>
          <a:bodyPr/>
          <a:lstStyle/>
          <a:p>
            <a:endParaRPr lang="en-US"/>
          </a:p>
        </p:txBody>
      </p:sp>
      <p:sp>
        <p:nvSpPr>
          <p:cNvPr id="4" name="Text 2"/>
          <p:cNvSpPr/>
          <p:nvPr/>
        </p:nvSpPr>
        <p:spPr>
          <a:xfrm>
            <a:off x="365760" y="0"/>
            <a:ext cx="8412480" cy="713232"/>
          </a:xfrm>
          <a:prstGeom prst="rect">
            <a:avLst/>
          </a:prstGeom>
          <a:noFill/>
          <a:ln/>
        </p:spPr>
        <p:txBody>
          <a:bodyPr wrap="square" lIns="0" tIns="0" rIns="0" bIns="0"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Approach &amp; Algorithms</a:t>
            </a:r>
            <a:endParaRPr lang="en-US" sz="2400" dirty="0"/>
          </a:p>
        </p:txBody>
      </p:sp>
      <p:sp>
        <p:nvSpPr>
          <p:cNvPr id="5" name="Shape 3"/>
          <p:cNvSpPr/>
          <p:nvPr/>
        </p:nvSpPr>
        <p:spPr>
          <a:xfrm>
            <a:off x="274320" y="2075688"/>
            <a:ext cx="265176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6" name="Shape 4"/>
          <p:cNvSpPr/>
          <p:nvPr/>
        </p:nvSpPr>
        <p:spPr>
          <a:xfrm>
            <a:off x="384048" y="2212848"/>
            <a:ext cx="475488" cy="475488"/>
          </a:xfrm>
          <a:prstGeom prst="ellipse">
            <a:avLst/>
          </a:prstGeom>
          <a:solidFill>
            <a:srgbClr val="0D9488"/>
          </a:solidFill>
          <a:ln w="12700">
            <a:solidFill>
              <a:srgbClr val="0D9488"/>
            </a:solidFill>
            <a:prstDash val="solid"/>
          </a:ln>
        </p:spPr>
        <p:txBody>
          <a:bodyPr/>
          <a:lstStyle/>
          <a:p>
            <a:endParaRPr lang="en-US" sz="2800" dirty="0"/>
          </a:p>
        </p:txBody>
      </p:sp>
      <p:sp>
        <p:nvSpPr>
          <p:cNvPr id="7" name="Text 5"/>
          <p:cNvSpPr/>
          <p:nvPr/>
        </p:nvSpPr>
        <p:spPr>
          <a:xfrm>
            <a:off x="384048" y="221284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rPr>
              <a:t>1</a:t>
            </a:r>
            <a:endParaRPr lang="en-US" sz="1400" dirty="0"/>
          </a:p>
        </p:txBody>
      </p:sp>
      <p:sp>
        <p:nvSpPr>
          <p:cNvPr id="8" name="Text 6"/>
          <p:cNvSpPr/>
          <p:nvPr/>
        </p:nvSpPr>
        <p:spPr>
          <a:xfrm>
            <a:off x="918972" y="2284857"/>
            <a:ext cx="1828800" cy="320040"/>
          </a:xfrm>
          <a:prstGeom prst="rect">
            <a:avLst/>
          </a:prstGeom>
          <a:noFill/>
          <a:ln/>
        </p:spPr>
        <p:txBody>
          <a:bodyPr wrap="square" rtlCol="0" anchor="ctr"/>
          <a:lstStyle/>
          <a:p>
            <a:pPr marL="0" indent="0">
              <a:buNone/>
            </a:pPr>
            <a:r>
              <a:rPr lang="en-US" sz="1300" b="1" dirty="0">
                <a:solidFill>
                  <a:srgbClr val="1B2A4A"/>
                </a:solidFill>
                <a:latin typeface="Georgia" pitchFamily="34" charset="0"/>
                <a:ea typeface="Georgia" pitchFamily="34" charset="-122"/>
                <a:cs typeface="Georgia" pitchFamily="34" charset="-120"/>
              </a:rPr>
              <a:t>Start</a:t>
            </a:r>
            <a:endParaRPr lang="en-US" sz="1300" dirty="0"/>
          </a:p>
        </p:txBody>
      </p:sp>
      <p:sp>
        <p:nvSpPr>
          <p:cNvPr id="9" name="Text 7"/>
          <p:cNvSpPr/>
          <p:nvPr/>
        </p:nvSpPr>
        <p:spPr>
          <a:xfrm>
            <a:off x="384048" y="2642616"/>
            <a:ext cx="2423160" cy="5943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Begin with the full word list of possible answers.</a:t>
            </a:r>
            <a:endParaRPr lang="en-US" sz="1150" dirty="0"/>
          </a:p>
        </p:txBody>
      </p:sp>
      <p:sp>
        <p:nvSpPr>
          <p:cNvPr id="10" name="Shape 8"/>
          <p:cNvSpPr/>
          <p:nvPr/>
        </p:nvSpPr>
        <p:spPr>
          <a:xfrm>
            <a:off x="3246120" y="2075688"/>
            <a:ext cx="265176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1" name="Shape 9"/>
          <p:cNvSpPr/>
          <p:nvPr/>
        </p:nvSpPr>
        <p:spPr>
          <a:xfrm>
            <a:off x="3355848" y="2212848"/>
            <a:ext cx="475488" cy="475488"/>
          </a:xfrm>
          <a:prstGeom prst="ellipse">
            <a:avLst/>
          </a:prstGeom>
          <a:solidFill>
            <a:srgbClr val="0D9488"/>
          </a:solidFill>
          <a:ln w="12700">
            <a:solidFill>
              <a:srgbClr val="0D9488"/>
            </a:solidFill>
            <a:prstDash val="solid"/>
          </a:ln>
        </p:spPr>
        <p:txBody>
          <a:bodyPr/>
          <a:lstStyle/>
          <a:p>
            <a:endParaRPr lang="en-US" sz="2800"/>
          </a:p>
        </p:txBody>
      </p:sp>
      <p:sp>
        <p:nvSpPr>
          <p:cNvPr id="12" name="Text 10"/>
          <p:cNvSpPr/>
          <p:nvPr/>
        </p:nvSpPr>
        <p:spPr>
          <a:xfrm>
            <a:off x="3355848" y="221284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rPr>
              <a:t>2</a:t>
            </a:r>
            <a:endParaRPr lang="en-US" sz="1400" dirty="0"/>
          </a:p>
        </p:txBody>
      </p:sp>
      <p:sp>
        <p:nvSpPr>
          <p:cNvPr id="13" name="Text 11"/>
          <p:cNvSpPr/>
          <p:nvPr/>
        </p:nvSpPr>
        <p:spPr>
          <a:xfrm>
            <a:off x="3890772" y="2290930"/>
            <a:ext cx="1828800" cy="320040"/>
          </a:xfrm>
          <a:prstGeom prst="rect">
            <a:avLst/>
          </a:prstGeom>
          <a:noFill/>
          <a:ln/>
        </p:spPr>
        <p:txBody>
          <a:bodyPr wrap="square" rtlCol="0" anchor="ctr"/>
          <a:lstStyle/>
          <a:p>
            <a:pPr marL="0" indent="0">
              <a:buNone/>
            </a:pPr>
            <a:r>
              <a:rPr lang="en-US" sz="1300" b="1" dirty="0">
                <a:solidFill>
                  <a:srgbClr val="1B2A4A"/>
                </a:solidFill>
                <a:latin typeface="Georgia" pitchFamily="34" charset="0"/>
                <a:ea typeface="Georgia" pitchFamily="34" charset="-122"/>
                <a:cs typeface="Georgia" pitchFamily="34" charset="-120"/>
              </a:rPr>
              <a:t>Frequencies</a:t>
            </a:r>
            <a:endParaRPr lang="en-US" sz="1300" dirty="0"/>
          </a:p>
        </p:txBody>
      </p:sp>
      <p:sp>
        <p:nvSpPr>
          <p:cNvPr id="14" name="Text 12"/>
          <p:cNvSpPr/>
          <p:nvPr/>
        </p:nvSpPr>
        <p:spPr>
          <a:xfrm>
            <a:off x="3355848" y="2642616"/>
            <a:ext cx="2423160" cy="5943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Calculate letter frequencies &amp; positions of the (remaining) wordlist.</a:t>
            </a:r>
            <a:endParaRPr lang="en-US" sz="1150" dirty="0"/>
          </a:p>
        </p:txBody>
      </p:sp>
      <p:sp>
        <p:nvSpPr>
          <p:cNvPr id="15" name="Shape 13"/>
          <p:cNvSpPr/>
          <p:nvPr/>
        </p:nvSpPr>
        <p:spPr>
          <a:xfrm>
            <a:off x="6217920" y="2075688"/>
            <a:ext cx="265176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6327648" y="2212848"/>
            <a:ext cx="475488" cy="475488"/>
          </a:xfrm>
          <a:prstGeom prst="ellipse">
            <a:avLst/>
          </a:prstGeom>
          <a:solidFill>
            <a:srgbClr val="0D9488"/>
          </a:solidFill>
          <a:ln w="12700">
            <a:solidFill>
              <a:srgbClr val="0D9488"/>
            </a:solidFill>
            <a:prstDash val="solid"/>
          </a:ln>
        </p:spPr>
        <p:txBody>
          <a:bodyPr/>
          <a:lstStyle/>
          <a:p>
            <a:endParaRPr lang="en-US" sz="2800"/>
          </a:p>
        </p:txBody>
      </p:sp>
      <p:sp>
        <p:nvSpPr>
          <p:cNvPr id="17" name="Text 15"/>
          <p:cNvSpPr/>
          <p:nvPr/>
        </p:nvSpPr>
        <p:spPr>
          <a:xfrm>
            <a:off x="6327648" y="221284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rPr>
              <a:t>3</a:t>
            </a:r>
            <a:endParaRPr lang="en-US" sz="1400" dirty="0"/>
          </a:p>
        </p:txBody>
      </p:sp>
      <p:sp>
        <p:nvSpPr>
          <p:cNvPr id="18" name="Text 16"/>
          <p:cNvSpPr/>
          <p:nvPr/>
        </p:nvSpPr>
        <p:spPr>
          <a:xfrm>
            <a:off x="6903720" y="2290930"/>
            <a:ext cx="1828800" cy="320040"/>
          </a:xfrm>
          <a:prstGeom prst="rect">
            <a:avLst/>
          </a:prstGeom>
          <a:noFill/>
          <a:ln/>
        </p:spPr>
        <p:txBody>
          <a:bodyPr wrap="square" rtlCol="0" anchor="ctr"/>
          <a:lstStyle/>
          <a:p>
            <a:pPr marL="0" indent="0">
              <a:buNone/>
            </a:pPr>
            <a:r>
              <a:rPr lang="en-US" sz="1300" b="1" dirty="0">
                <a:solidFill>
                  <a:srgbClr val="1B2A4A"/>
                </a:solidFill>
                <a:latin typeface="Georgia" pitchFamily="34" charset="0"/>
                <a:ea typeface="Georgia" pitchFamily="34" charset="-122"/>
                <a:cs typeface="Georgia" pitchFamily="34" charset="-120"/>
              </a:rPr>
              <a:t>Score</a:t>
            </a:r>
            <a:endParaRPr lang="en-US" sz="1300" dirty="0"/>
          </a:p>
        </p:txBody>
      </p:sp>
      <p:sp>
        <p:nvSpPr>
          <p:cNvPr id="19" name="Text 17"/>
          <p:cNvSpPr/>
          <p:nvPr/>
        </p:nvSpPr>
        <p:spPr>
          <a:xfrm>
            <a:off x="6327648" y="2642616"/>
            <a:ext cx="2423160" cy="5943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Score each word by summing unique-letter-position frequencies.</a:t>
            </a:r>
            <a:endParaRPr lang="en-US" sz="1150" dirty="0"/>
          </a:p>
        </p:txBody>
      </p:sp>
      <p:sp>
        <p:nvSpPr>
          <p:cNvPr id="20" name="Shape 18"/>
          <p:cNvSpPr/>
          <p:nvPr/>
        </p:nvSpPr>
        <p:spPr>
          <a:xfrm>
            <a:off x="274320" y="3630168"/>
            <a:ext cx="265176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1" name="Shape 19"/>
          <p:cNvSpPr/>
          <p:nvPr/>
        </p:nvSpPr>
        <p:spPr>
          <a:xfrm>
            <a:off x="384048" y="3767328"/>
            <a:ext cx="475488" cy="475488"/>
          </a:xfrm>
          <a:prstGeom prst="ellipse">
            <a:avLst/>
          </a:prstGeom>
          <a:solidFill>
            <a:srgbClr val="0D9488"/>
          </a:solidFill>
          <a:ln w="12700">
            <a:solidFill>
              <a:srgbClr val="0D9488"/>
            </a:solidFill>
            <a:prstDash val="solid"/>
          </a:ln>
        </p:spPr>
        <p:txBody>
          <a:bodyPr/>
          <a:lstStyle/>
          <a:p>
            <a:endParaRPr lang="en-US" sz="1400"/>
          </a:p>
        </p:txBody>
      </p:sp>
      <p:sp>
        <p:nvSpPr>
          <p:cNvPr id="22" name="Text 20"/>
          <p:cNvSpPr/>
          <p:nvPr/>
        </p:nvSpPr>
        <p:spPr>
          <a:xfrm>
            <a:off x="384048" y="3767328"/>
            <a:ext cx="475488" cy="47548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23" name="Text 21"/>
          <p:cNvSpPr/>
          <p:nvPr/>
        </p:nvSpPr>
        <p:spPr>
          <a:xfrm>
            <a:off x="923998" y="3845052"/>
            <a:ext cx="1828800" cy="320040"/>
          </a:xfrm>
          <a:prstGeom prst="rect">
            <a:avLst/>
          </a:prstGeom>
          <a:noFill/>
          <a:ln/>
        </p:spPr>
        <p:txBody>
          <a:bodyPr wrap="square" rtlCol="0" anchor="ctr"/>
          <a:lstStyle/>
          <a:p>
            <a:pPr marL="0" indent="0">
              <a:buNone/>
            </a:pPr>
            <a:r>
              <a:rPr lang="en-US" sz="1300" b="1" dirty="0">
                <a:solidFill>
                  <a:srgbClr val="1B2A4A"/>
                </a:solidFill>
                <a:latin typeface="Georgia" pitchFamily="34" charset="0"/>
                <a:ea typeface="Georgia" pitchFamily="34" charset="-122"/>
                <a:cs typeface="Georgia" pitchFamily="34" charset="-120"/>
              </a:rPr>
              <a:t>Pick Best</a:t>
            </a:r>
            <a:endParaRPr lang="en-US" sz="1300" dirty="0"/>
          </a:p>
        </p:txBody>
      </p:sp>
      <p:sp>
        <p:nvSpPr>
          <p:cNvPr id="24" name="Text 22"/>
          <p:cNvSpPr/>
          <p:nvPr/>
        </p:nvSpPr>
        <p:spPr>
          <a:xfrm>
            <a:off x="384048" y="4197096"/>
            <a:ext cx="2423160" cy="594360"/>
          </a:xfrm>
          <a:prstGeom prst="rect">
            <a:avLst/>
          </a:prstGeom>
          <a:noFill/>
          <a:ln/>
        </p:spPr>
        <p:txBody>
          <a:bodyPr wrap="square" rtlCol="0" anchor="ctr"/>
          <a:lstStyle/>
          <a:p>
            <a:r>
              <a:rPr lang="en-US" sz="1150" dirty="0">
                <a:solidFill>
                  <a:srgbClr val="334155"/>
                </a:solidFill>
                <a:latin typeface="Calibri" pitchFamily="34" charset="0"/>
                <a:ea typeface="Calibri" pitchFamily="34" charset="-122"/>
                <a:cs typeface="Calibri" pitchFamily="34" charset="-120"/>
              </a:rPr>
              <a:t>Select highest-scoring word, with tie-breaks done alphabetically or with distinguishing letters.</a:t>
            </a:r>
            <a:endParaRPr lang="en-US" sz="1150" dirty="0"/>
          </a:p>
        </p:txBody>
      </p:sp>
      <p:sp>
        <p:nvSpPr>
          <p:cNvPr id="25" name="Shape 23"/>
          <p:cNvSpPr/>
          <p:nvPr/>
        </p:nvSpPr>
        <p:spPr>
          <a:xfrm>
            <a:off x="3246120" y="3630168"/>
            <a:ext cx="265176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6" name="Shape 24"/>
          <p:cNvSpPr/>
          <p:nvPr/>
        </p:nvSpPr>
        <p:spPr>
          <a:xfrm>
            <a:off x="3355848" y="3767328"/>
            <a:ext cx="475488" cy="475488"/>
          </a:xfrm>
          <a:prstGeom prst="ellipse">
            <a:avLst/>
          </a:prstGeom>
          <a:solidFill>
            <a:srgbClr val="0D9488"/>
          </a:solidFill>
          <a:ln w="12700">
            <a:solidFill>
              <a:srgbClr val="0D9488"/>
            </a:solidFill>
            <a:prstDash val="solid"/>
          </a:ln>
        </p:spPr>
        <p:txBody>
          <a:bodyPr/>
          <a:lstStyle/>
          <a:p>
            <a:endParaRPr lang="en-US" sz="2800"/>
          </a:p>
        </p:txBody>
      </p:sp>
      <p:sp>
        <p:nvSpPr>
          <p:cNvPr id="27" name="Text 25"/>
          <p:cNvSpPr/>
          <p:nvPr/>
        </p:nvSpPr>
        <p:spPr>
          <a:xfrm>
            <a:off x="3355848" y="376732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rPr>
              <a:t>5</a:t>
            </a:r>
            <a:endParaRPr lang="en-US" sz="1400" dirty="0"/>
          </a:p>
        </p:txBody>
      </p:sp>
      <p:sp>
        <p:nvSpPr>
          <p:cNvPr id="28" name="Text 26"/>
          <p:cNvSpPr/>
          <p:nvPr/>
        </p:nvSpPr>
        <p:spPr>
          <a:xfrm>
            <a:off x="3920054" y="3845052"/>
            <a:ext cx="1828800" cy="320040"/>
          </a:xfrm>
          <a:prstGeom prst="rect">
            <a:avLst/>
          </a:prstGeom>
          <a:noFill/>
          <a:ln/>
        </p:spPr>
        <p:txBody>
          <a:bodyPr wrap="square" rtlCol="0" anchor="ctr"/>
          <a:lstStyle/>
          <a:p>
            <a:pPr marL="0" indent="0">
              <a:buNone/>
            </a:pPr>
            <a:r>
              <a:rPr lang="en-US" sz="1300" b="1" dirty="0">
                <a:solidFill>
                  <a:srgbClr val="1B2A4A"/>
                </a:solidFill>
                <a:latin typeface="Georgia" pitchFamily="34" charset="0"/>
                <a:ea typeface="Georgia" pitchFamily="34" charset="-122"/>
                <a:cs typeface="Georgia" pitchFamily="34" charset="-120"/>
              </a:rPr>
              <a:t>Prune</a:t>
            </a:r>
            <a:endParaRPr lang="en-US" sz="1300" dirty="0"/>
          </a:p>
        </p:txBody>
      </p:sp>
      <p:sp>
        <p:nvSpPr>
          <p:cNvPr id="29" name="Text 27"/>
          <p:cNvSpPr/>
          <p:nvPr/>
        </p:nvSpPr>
        <p:spPr>
          <a:xfrm>
            <a:off x="3355848" y="4197096"/>
            <a:ext cx="2423160" cy="5943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Eliminate candidates that the word cannot possibly be (CSP Aspect).</a:t>
            </a:r>
            <a:endParaRPr lang="en-US" sz="1150" dirty="0"/>
          </a:p>
        </p:txBody>
      </p:sp>
      <p:sp>
        <p:nvSpPr>
          <p:cNvPr id="30" name="Shape 28"/>
          <p:cNvSpPr/>
          <p:nvPr/>
        </p:nvSpPr>
        <p:spPr>
          <a:xfrm>
            <a:off x="6217920" y="3630168"/>
            <a:ext cx="2651760" cy="123444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31" name="Shape 29"/>
          <p:cNvSpPr/>
          <p:nvPr/>
        </p:nvSpPr>
        <p:spPr>
          <a:xfrm>
            <a:off x="6327648" y="3767328"/>
            <a:ext cx="475488" cy="475488"/>
          </a:xfrm>
          <a:prstGeom prst="ellipse">
            <a:avLst/>
          </a:prstGeom>
          <a:solidFill>
            <a:srgbClr val="0D9488"/>
          </a:solidFill>
          <a:ln w="12700">
            <a:solidFill>
              <a:srgbClr val="0D9488"/>
            </a:solidFill>
            <a:prstDash val="solid"/>
          </a:ln>
        </p:spPr>
        <p:txBody>
          <a:bodyPr/>
          <a:lstStyle/>
          <a:p>
            <a:endParaRPr lang="en-US" sz="2800"/>
          </a:p>
        </p:txBody>
      </p:sp>
      <p:sp>
        <p:nvSpPr>
          <p:cNvPr id="32" name="Text 30"/>
          <p:cNvSpPr/>
          <p:nvPr/>
        </p:nvSpPr>
        <p:spPr>
          <a:xfrm>
            <a:off x="6327648" y="3767328"/>
            <a:ext cx="475488" cy="475488"/>
          </a:xfrm>
          <a:prstGeom prst="rect">
            <a:avLst/>
          </a:prstGeom>
          <a:noFill/>
          <a:ln/>
        </p:spPr>
        <p:txBody>
          <a:bodyPr wrap="square" lIns="0" tIns="0" rIns="0" bIns="0" rtlCol="0" anchor="ctr"/>
          <a:lstStyle/>
          <a:p>
            <a:pPr marL="0" indent="0" algn="ctr">
              <a:buNone/>
            </a:pPr>
            <a:r>
              <a:rPr lang="en-US" sz="1400" b="1" dirty="0">
                <a:solidFill>
                  <a:srgbClr val="FFFFFF"/>
                </a:solidFill>
              </a:rPr>
              <a:t>6</a:t>
            </a:r>
            <a:endParaRPr lang="en-US" sz="1400" dirty="0"/>
          </a:p>
        </p:txBody>
      </p:sp>
      <p:sp>
        <p:nvSpPr>
          <p:cNvPr id="33" name="Text 31"/>
          <p:cNvSpPr/>
          <p:nvPr/>
        </p:nvSpPr>
        <p:spPr>
          <a:xfrm>
            <a:off x="6915377" y="3845052"/>
            <a:ext cx="1828800" cy="320040"/>
          </a:xfrm>
          <a:prstGeom prst="rect">
            <a:avLst/>
          </a:prstGeom>
          <a:noFill/>
          <a:ln/>
        </p:spPr>
        <p:txBody>
          <a:bodyPr wrap="square" rtlCol="0" anchor="ctr"/>
          <a:lstStyle/>
          <a:p>
            <a:pPr marL="0" indent="0">
              <a:buNone/>
            </a:pPr>
            <a:r>
              <a:rPr lang="en-US" sz="1300" b="1" dirty="0">
                <a:solidFill>
                  <a:srgbClr val="1B2A4A"/>
                </a:solidFill>
                <a:latin typeface="Georgia" pitchFamily="34" charset="0"/>
                <a:ea typeface="Georgia" pitchFamily="34" charset="-122"/>
                <a:cs typeface="Georgia" pitchFamily="34" charset="-120"/>
              </a:rPr>
              <a:t>Repeat</a:t>
            </a:r>
            <a:endParaRPr lang="en-US" sz="1300" dirty="0"/>
          </a:p>
        </p:txBody>
      </p:sp>
      <p:sp>
        <p:nvSpPr>
          <p:cNvPr id="34" name="Text 32"/>
          <p:cNvSpPr/>
          <p:nvPr/>
        </p:nvSpPr>
        <p:spPr>
          <a:xfrm>
            <a:off x="6327648" y="4197096"/>
            <a:ext cx="2423160" cy="594360"/>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Loop back to Step 2 until solved or your 6 turns are done.</a:t>
            </a:r>
            <a:endParaRPr lang="en-US" sz="1150" dirty="0"/>
          </a:p>
        </p:txBody>
      </p:sp>
      <p:sp>
        <p:nvSpPr>
          <p:cNvPr id="35" name="Text 33"/>
          <p:cNvSpPr/>
          <p:nvPr/>
        </p:nvSpPr>
        <p:spPr>
          <a:xfrm>
            <a:off x="274320" y="1259586"/>
            <a:ext cx="8595360" cy="320040"/>
          </a:xfrm>
          <a:prstGeom prst="rect">
            <a:avLst/>
          </a:prstGeom>
          <a:noFill/>
          <a:ln/>
        </p:spPr>
        <p:txBody>
          <a:bodyPr wrap="square" rtlCol="0" anchor="ctr"/>
          <a:lstStyle/>
          <a:p>
            <a:pPr marL="0" indent="0" algn="ctr">
              <a:buNone/>
            </a:pPr>
            <a:r>
              <a:rPr lang="en-US" b="1" i="1" dirty="0">
                <a:latin typeface="Georgia" panose="02040502050405020303" pitchFamily="18" charset="0"/>
                <a:ea typeface="Calibri" pitchFamily="34" charset="-122"/>
                <a:cs typeface="Calibri" pitchFamily="34" charset="-120"/>
              </a:rPr>
              <a:t>Hill Climbing: </a:t>
            </a:r>
            <a:r>
              <a:rPr lang="en-US" i="1" dirty="0">
                <a:latin typeface="Georgia" panose="02040502050405020303" pitchFamily="18" charset="0"/>
                <a:ea typeface="Calibri" pitchFamily="34" charset="-122"/>
                <a:cs typeface="Calibri" pitchFamily="34" charset="-120"/>
              </a:rPr>
              <a:t>always pick the locally optimal next guess</a:t>
            </a:r>
          </a:p>
          <a:p>
            <a:pPr marL="0" indent="0" algn="ctr">
              <a:buNone/>
            </a:pPr>
            <a:r>
              <a:rPr lang="en-US" b="1" i="1" dirty="0">
                <a:latin typeface="Georgia" panose="02040502050405020303" pitchFamily="18" charset="0"/>
                <a:cs typeface="Calibri" pitchFamily="34" charset="-120"/>
              </a:rPr>
              <a:t>Constraint Propagation: </a:t>
            </a:r>
            <a:r>
              <a:rPr lang="en-US" i="1" dirty="0">
                <a:latin typeface="Georgia" panose="02040502050405020303" pitchFamily="18" charset="0"/>
                <a:cs typeface="Calibri" pitchFamily="34" charset="-120"/>
              </a:rPr>
              <a:t>iteratively reduces the search space in CSPs</a:t>
            </a:r>
            <a:endParaRPr lang="en-US" dirty="0">
              <a:latin typeface="Georgia" panose="02040502050405020303"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6"/>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713232"/>
            <a:ext cx="9144000" cy="50292"/>
          </a:xfrm>
          <a:prstGeom prst="rect">
            <a:avLst/>
          </a:prstGeom>
          <a:solidFill>
            <a:srgbClr val="0D9488"/>
          </a:solidFill>
          <a:ln w="12700">
            <a:solidFill>
              <a:srgbClr val="0D9488"/>
            </a:solidFill>
            <a:prstDash val="solid"/>
          </a:ln>
        </p:spPr>
        <p:txBody>
          <a:bodyPr/>
          <a:lstStyle/>
          <a:p>
            <a:endParaRPr lang="en-US"/>
          </a:p>
        </p:txBody>
      </p:sp>
      <p:sp>
        <p:nvSpPr>
          <p:cNvPr id="4" name="Text 2"/>
          <p:cNvSpPr/>
          <p:nvPr/>
        </p:nvSpPr>
        <p:spPr>
          <a:xfrm>
            <a:off x="365760" y="0"/>
            <a:ext cx="8412480" cy="713232"/>
          </a:xfrm>
          <a:prstGeom prst="rect">
            <a:avLst/>
          </a:prstGeom>
          <a:noFill/>
          <a:ln/>
        </p:spPr>
        <p:txBody>
          <a:bodyPr wrap="square" lIns="0" tIns="0" rIns="0" bIns="0"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Key Implementation Details</a:t>
            </a:r>
            <a:endParaRPr lang="en-US" sz="2400" dirty="0"/>
          </a:p>
        </p:txBody>
      </p:sp>
      <p:sp>
        <p:nvSpPr>
          <p:cNvPr id="5" name="Shape 3"/>
          <p:cNvSpPr/>
          <p:nvPr/>
        </p:nvSpPr>
        <p:spPr>
          <a:xfrm>
            <a:off x="274320" y="960120"/>
            <a:ext cx="4050792"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6" name="Text 4"/>
          <p:cNvSpPr/>
          <p:nvPr/>
        </p:nvSpPr>
        <p:spPr>
          <a:xfrm>
            <a:off x="438912" y="1069848"/>
            <a:ext cx="3742580" cy="411480"/>
          </a:xfrm>
          <a:prstGeom prst="rect">
            <a:avLst/>
          </a:prstGeom>
          <a:noFill/>
          <a:ln/>
        </p:spPr>
        <p:txBody>
          <a:bodyPr wrap="square" rtlCol="0" anchor="ctr"/>
          <a:lstStyle/>
          <a:p>
            <a:pPr marL="0" indent="0">
              <a:buNone/>
            </a:pPr>
            <a:r>
              <a:rPr lang="en-US" sz="1350" b="1" dirty="0">
                <a:solidFill>
                  <a:srgbClr val="1B2A4A"/>
                </a:solidFill>
                <a:latin typeface="Georgia" pitchFamily="34" charset="0"/>
                <a:ea typeface="Georgia" pitchFamily="34" charset="-122"/>
                <a:cs typeface="Georgia" pitchFamily="34" charset="-120"/>
              </a:rPr>
              <a:t>🟩  Recreating the Wordle Engine</a:t>
            </a:r>
            <a:endParaRPr lang="en-US" sz="1350" dirty="0"/>
          </a:p>
        </p:txBody>
      </p:sp>
      <p:sp>
        <p:nvSpPr>
          <p:cNvPr id="7" name="Text 5"/>
          <p:cNvSpPr/>
          <p:nvPr/>
        </p:nvSpPr>
        <p:spPr>
          <a:xfrm>
            <a:off x="438912" y="1490472"/>
            <a:ext cx="3742580" cy="1115568"/>
          </a:xfrm>
          <a:prstGeom prst="rect">
            <a:avLst/>
          </a:prstGeom>
          <a:noFill/>
          <a:ln/>
        </p:spPr>
        <p:txBody>
          <a:bodyPr wrap="square" rtlCol="0" anchor="ctr"/>
          <a:lstStyle/>
          <a:p>
            <a:pPr marL="0" indent="0">
              <a:buNone/>
            </a:pPr>
            <a:r>
              <a:rPr lang="en-US" sz="1150" dirty="0">
                <a:solidFill>
                  <a:srgbClr val="334155"/>
                </a:solidFill>
                <a:latin typeface="Calibri" pitchFamily="34" charset="0"/>
                <a:ea typeface="Calibri" pitchFamily="34" charset="-122"/>
                <a:cs typeface="Calibri" pitchFamily="34" charset="-120"/>
              </a:rPr>
              <a:t>Replicates Wordle’s feedback using a two-pass algorithm that checks greens first, tallies the rest of the letters, and performs a second pass, making sure not the repeat letters</a:t>
            </a:r>
          </a:p>
        </p:txBody>
      </p:sp>
      <p:sp>
        <p:nvSpPr>
          <p:cNvPr id="8" name="Shape 6"/>
          <p:cNvSpPr/>
          <p:nvPr/>
        </p:nvSpPr>
        <p:spPr>
          <a:xfrm>
            <a:off x="4572000" y="960120"/>
            <a:ext cx="448056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dirty="0"/>
          </a:p>
        </p:txBody>
      </p:sp>
      <p:sp>
        <p:nvSpPr>
          <p:cNvPr id="9" name="Text 7"/>
          <p:cNvSpPr/>
          <p:nvPr/>
        </p:nvSpPr>
        <p:spPr>
          <a:xfrm>
            <a:off x="4757464" y="1069848"/>
            <a:ext cx="4139648" cy="411480"/>
          </a:xfrm>
          <a:prstGeom prst="rect">
            <a:avLst/>
          </a:prstGeom>
          <a:noFill/>
          <a:ln/>
        </p:spPr>
        <p:txBody>
          <a:bodyPr wrap="square" rtlCol="0" anchor="ctr"/>
          <a:lstStyle/>
          <a:p>
            <a:pPr marL="0" indent="0">
              <a:buNone/>
            </a:pPr>
            <a:r>
              <a:rPr lang="en-US" sz="1350" b="1" dirty="0">
                <a:solidFill>
                  <a:srgbClr val="1B2A4A"/>
                </a:solidFill>
                <a:latin typeface="Georgia" pitchFamily="34" charset="0"/>
                <a:ea typeface="Georgia" pitchFamily="34" charset="-122"/>
                <a:cs typeface="Georgia" pitchFamily="34" charset="-120"/>
              </a:rPr>
              <a:t>📊  Unique Letter Scoring</a:t>
            </a:r>
            <a:endParaRPr lang="en-US" sz="1350" dirty="0"/>
          </a:p>
        </p:txBody>
      </p:sp>
      <p:sp>
        <p:nvSpPr>
          <p:cNvPr id="10" name="Text 8"/>
          <p:cNvSpPr/>
          <p:nvPr/>
        </p:nvSpPr>
        <p:spPr>
          <a:xfrm>
            <a:off x="4757464" y="1490472"/>
            <a:ext cx="4139648" cy="1115568"/>
          </a:xfrm>
          <a:prstGeom prst="rect">
            <a:avLst/>
          </a:prstGeom>
          <a:noFill/>
          <a:ln/>
        </p:spPr>
        <p:txBody>
          <a:bodyPr wrap="square" rtlCol="0" anchor="ctr"/>
          <a:lstStyle/>
          <a:p>
            <a:r>
              <a:rPr lang="en-US" sz="1150" dirty="0">
                <a:solidFill>
                  <a:srgbClr val="334155"/>
                </a:solidFill>
                <a:latin typeface="Calibri" pitchFamily="34" charset="0"/>
                <a:ea typeface="Calibri" pitchFamily="34" charset="-122"/>
                <a:cs typeface="Calibri" pitchFamily="34" charset="-120"/>
              </a:rPr>
              <a:t>Words are scored using positional frequencies; each letter's score depends on how common it is at that specific position in the remaining candidate pool, not just globally. This pushes the AI to choose words that will give it more information.</a:t>
            </a:r>
          </a:p>
        </p:txBody>
      </p:sp>
      <p:sp>
        <p:nvSpPr>
          <p:cNvPr id="11" name="Shape 9"/>
          <p:cNvSpPr/>
          <p:nvPr/>
        </p:nvSpPr>
        <p:spPr>
          <a:xfrm>
            <a:off x="274320" y="2898648"/>
            <a:ext cx="8778240" cy="1783080"/>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dirty="0"/>
          </a:p>
        </p:txBody>
      </p:sp>
      <p:sp>
        <p:nvSpPr>
          <p:cNvPr id="12" name="Text 10"/>
          <p:cNvSpPr/>
          <p:nvPr/>
        </p:nvSpPr>
        <p:spPr>
          <a:xfrm>
            <a:off x="438912" y="3008376"/>
            <a:ext cx="3886200" cy="411480"/>
          </a:xfrm>
          <a:prstGeom prst="rect">
            <a:avLst/>
          </a:prstGeom>
          <a:noFill/>
          <a:ln/>
        </p:spPr>
        <p:txBody>
          <a:bodyPr wrap="square" rtlCol="0" anchor="ctr"/>
          <a:lstStyle/>
          <a:p>
            <a:pPr marL="0" indent="0">
              <a:buNone/>
            </a:pPr>
            <a:r>
              <a:rPr lang="en-US" sz="1350" b="1" dirty="0">
                <a:solidFill>
                  <a:srgbClr val="1B2A4A"/>
                </a:solidFill>
                <a:latin typeface="Georgia" pitchFamily="34" charset="0"/>
                <a:ea typeface="Georgia" pitchFamily="34" charset="-122"/>
                <a:cs typeface="Georgia" pitchFamily="34" charset="-120"/>
              </a:rPr>
              <a:t>🔄  Hill Climbing</a:t>
            </a:r>
            <a:endParaRPr lang="en-US" sz="1350" dirty="0"/>
          </a:p>
        </p:txBody>
      </p:sp>
      <p:sp>
        <p:nvSpPr>
          <p:cNvPr id="13" name="Text 11"/>
          <p:cNvSpPr/>
          <p:nvPr/>
        </p:nvSpPr>
        <p:spPr>
          <a:xfrm>
            <a:off x="438912" y="3429000"/>
            <a:ext cx="3886200" cy="1115568"/>
          </a:xfrm>
          <a:prstGeom prst="rect">
            <a:avLst/>
          </a:prstGeom>
          <a:noFill/>
          <a:ln/>
        </p:spPr>
        <p:txBody>
          <a:bodyPr wrap="square" rtlCol="0" anchor="ctr"/>
          <a:lstStyle/>
          <a:p>
            <a:r>
              <a:rPr lang="en-US" sz="1200" b="1" dirty="0"/>
              <a:t>Goal: </a:t>
            </a:r>
            <a:r>
              <a:rPr lang="en-US" sz="1200" dirty="0"/>
              <a:t>Where the Guess = Secret Word</a:t>
            </a:r>
          </a:p>
          <a:p>
            <a:r>
              <a:rPr lang="en-US" sz="1200" b="1" dirty="0"/>
              <a:t>States: </a:t>
            </a:r>
            <a:r>
              <a:rPr lang="en-US" sz="1200" dirty="0"/>
              <a:t>The current candidate pool after each guess </a:t>
            </a:r>
            <a:r>
              <a:rPr lang="en-US" sz="1200" b="1" dirty="0"/>
              <a:t>Heuristic: </a:t>
            </a:r>
            <a:r>
              <a:rPr lang="en-US" sz="1200" dirty="0"/>
              <a:t>Sum of letter frequencies at the same position, for all letters of the word</a:t>
            </a:r>
            <a:endParaRPr lang="en-US" sz="1200" b="1" dirty="0"/>
          </a:p>
        </p:txBody>
      </p:sp>
      <p:sp>
        <p:nvSpPr>
          <p:cNvPr id="15" name="Text 13"/>
          <p:cNvSpPr/>
          <p:nvPr/>
        </p:nvSpPr>
        <p:spPr>
          <a:xfrm>
            <a:off x="5010912" y="3008376"/>
            <a:ext cx="3886200" cy="411480"/>
          </a:xfrm>
          <a:prstGeom prst="rect">
            <a:avLst/>
          </a:prstGeom>
          <a:noFill/>
          <a:ln/>
        </p:spPr>
        <p:txBody>
          <a:bodyPr wrap="square" rtlCol="0" anchor="ctr"/>
          <a:lstStyle/>
          <a:p>
            <a:pPr marL="0" indent="0">
              <a:buNone/>
            </a:pPr>
            <a:r>
              <a:rPr lang="en-US" sz="1350" b="1" dirty="0">
                <a:solidFill>
                  <a:srgbClr val="1B2A4A"/>
                </a:solidFill>
                <a:latin typeface="Georgia" pitchFamily="34" charset="0"/>
                <a:ea typeface="Georgia" pitchFamily="34" charset="-122"/>
                <a:cs typeface="Georgia" pitchFamily="34" charset="-120"/>
              </a:rPr>
              <a:t>✂️  CSP Aspect</a:t>
            </a:r>
            <a:endParaRPr lang="en-US" sz="1350" dirty="0"/>
          </a:p>
        </p:txBody>
      </p:sp>
      <p:sp>
        <p:nvSpPr>
          <p:cNvPr id="17" name="Text 15"/>
          <p:cNvSpPr/>
          <p:nvPr/>
        </p:nvSpPr>
        <p:spPr>
          <a:xfrm>
            <a:off x="274320" y="4773168"/>
            <a:ext cx="8595360" cy="256032"/>
          </a:xfrm>
          <a:prstGeom prst="rect">
            <a:avLst/>
          </a:prstGeom>
          <a:noFill/>
          <a:ln/>
        </p:spPr>
        <p:txBody>
          <a:bodyPr wrap="square" rtlCol="0" anchor="ctr"/>
          <a:lstStyle/>
          <a:p>
            <a:pPr marL="0" indent="0" algn="ctr">
              <a:buNone/>
            </a:pPr>
            <a:r>
              <a:rPr lang="en-US" sz="1050" i="1" dirty="0">
                <a:solidFill>
                  <a:srgbClr val="64748B"/>
                </a:solidFill>
                <a:latin typeface="Calibri" pitchFamily="34" charset="0"/>
                <a:ea typeface="Calibri" pitchFamily="34" charset="-122"/>
                <a:cs typeface="Calibri" pitchFamily="34" charset="-120"/>
              </a:rPr>
              <a:t>All logic is pure Python</a:t>
            </a:r>
            <a:endParaRPr lang="en-US" sz="1050" dirty="0"/>
          </a:p>
        </p:txBody>
      </p:sp>
      <p:sp>
        <p:nvSpPr>
          <p:cNvPr id="21" name="TextBox 20">
            <a:extLst>
              <a:ext uri="{FF2B5EF4-FFF2-40B4-BE49-F238E27FC236}">
                <a16:creationId xmlns:a16="http://schemas.microsoft.com/office/drawing/2014/main" id="{03332DC3-8D46-FD07-C7C4-CC6A72BE20F6}"/>
              </a:ext>
            </a:extLst>
          </p:cNvPr>
          <p:cNvSpPr txBox="1"/>
          <p:nvPr/>
        </p:nvSpPr>
        <p:spPr>
          <a:xfrm>
            <a:off x="5010912" y="3663618"/>
            <a:ext cx="3886200" cy="646331"/>
          </a:xfrm>
          <a:prstGeom prst="rect">
            <a:avLst/>
          </a:prstGeom>
          <a:noFill/>
        </p:spPr>
        <p:txBody>
          <a:bodyPr wrap="square">
            <a:spAutoFit/>
          </a:bodyPr>
          <a:lstStyle/>
          <a:p>
            <a:r>
              <a:rPr lang="fr-FR" sz="1200" b="1" dirty="0"/>
              <a:t>Variables:</a:t>
            </a:r>
            <a:r>
              <a:rPr lang="fr-FR" sz="1200" dirty="0"/>
              <a:t> Position 1, Position 2, … , Position 5</a:t>
            </a:r>
          </a:p>
          <a:p>
            <a:r>
              <a:rPr lang="en-US" sz="1200" b="1" dirty="0"/>
              <a:t>Domains:</a:t>
            </a:r>
            <a:r>
              <a:rPr lang="en-US" sz="1200" dirty="0"/>
              <a:t> {A -&gt; Z} for each position</a:t>
            </a:r>
          </a:p>
          <a:p>
            <a:r>
              <a:rPr lang="en-US" sz="1200" b="1" dirty="0"/>
              <a:t>Constraints:</a:t>
            </a:r>
            <a:r>
              <a:rPr lang="en-US" sz="1200" dirty="0"/>
              <a:t> 🟩 🟨 ⬜</a:t>
            </a:r>
            <a:endParaRPr lang="en-US" sz="1200" b="1"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6"/>
        </a:solidFill>
        <a:effectLst/>
      </p:bgPr>
    </p:bg>
    <p:spTree>
      <p:nvGrpSpPr>
        <p:cNvPr id="1" name=""/>
        <p:cNvGrpSpPr/>
        <p:nvPr/>
      </p:nvGrpSpPr>
      <p:grpSpPr>
        <a:xfrm>
          <a:off x="0" y="0"/>
          <a:ext cx="0" cy="0"/>
          <a:chOff x="0" y="0"/>
          <a:chExt cx="0" cy="0"/>
        </a:xfrm>
      </p:grpSpPr>
      <p:sp>
        <p:nvSpPr>
          <p:cNvPr id="2" name="Shape 0"/>
          <p:cNvSpPr/>
          <p:nvPr/>
        </p:nvSpPr>
        <p:spPr>
          <a:xfrm>
            <a:off x="0" y="0"/>
            <a:ext cx="9144000" cy="713232"/>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713232"/>
            <a:ext cx="9144000" cy="50292"/>
          </a:xfrm>
          <a:prstGeom prst="rect">
            <a:avLst/>
          </a:prstGeom>
          <a:solidFill>
            <a:srgbClr val="0D9488"/>
          </a:solidFill>
          <a:ln w="12700">
            <a:solidFill>
              <a:srgbClr val="0D9488"/>
            </a:solidFill>
            <a:prstDash val="solid"/>
          </a:ln>
        </p:spPr>
        <p:txBody>
          <a:bodyPr/>
          <a:lstStyle/>
          <a:p>
            <a:endParaRPr lang="en-US"/>
          </a:p>
        </p:txBody>
      </p:sp>
      <p:sp>
        <p:nvSpPr>
          <p:cNvPr id="4" name="Text 2"/>
          <p:cNvSpPr/>
          <p:nvPr/>
        </p:nvSpPr>
        <p:spPr>
          <a:xfrm>
            <a:off x="365760" y="0"/>
            <a:ext cx="8412480" cy="713232"/>
          </a:xfrm>
          <a:prstGeom prst="rect">
            <a:avLst/>
          </a:prstGeom>
          <a:noFill/>
          <a:ln/>
        </p:spPr>
        <p:txBody>
          <a:bodyPr wrap="square" lIns="0" tIns="0" rIns="0" bIns="0"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Results &amp; Observations</a:t>
            </a:r>
            <a:endParaRPr lang="en-US" sz="2400" dirty="0"/>
          </a:p>
        </p:txBody>
      </p:sp>
      <p:graphicFrame>
        <p:nvGraphicFramePr>
          <p:cNvPr id="5" name="Chart 0"/>
          <p:cNvGraphicFramePr/>
          <p:nvPr>
            <p:extLst>
              <p:ext uri="{D42A27DB-BD31-4B8C-83A1-F6EECF244321}">
                <p14:modId xmlns:p14="http://schemas.microsoft.com/office/powerpoint/2010/main" val="4066444748"/>
              </p:ext>
            </p:extLst>
          </p:nvPr>
        </p:nvGraphicFramePr>
        <p:xfrm>
          <a:off x="274320" y="914400"/>
          <a:ext cx="5303520" cy="3995334"/>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5852160" y="960120"/>
            <a:ext cx="3017520" cy="1783080"/>
          </a:xfrm>
          <a:prstGeom prst="rect">
            <a:avLst/>
          </a:prstGeom>
          <a:solidFill>
            <a:srgbClr val="1B2A4A"/>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7" name="Text 4"/>
          <p:cNvSpPr/>
          <p:nvPr/>
        </p:nvSpPr>
        <p:spPr>
          <a:xfrm>
            <a:off x="5989320" y="1251415"/>
            <a:ext cx="2743200" cy="876429"/>
          </a:xfrm>
          <a:prstGeom prst="rect">
            <a:avLst/>
          </a:prstGeom>
          <a:noFill/>
          <a:ln/>
        </p:spPr>
        <p:txBody>
          <a:bodyPr wrap="square" lIns="0" tIns="0" rIns="0" bIns="0" rtlCol="0" anchor="ctr"/>
          <a:lstStyle/>
          <a:p>
            <a:pPr marL="0" indent="0" algn="ctr">
              <a:buNone/>
            </a:pPr>
            <a:r>
              <a:rPr lang="en-US" sz="3200" b="1" dirty="0">
                <a:solidFill>
                  <a:srgbClr val="5EEAD4"/>
                </a:solidFill>
                <a:latin typeface="Georgia" pitchFamily="34" charset="0"/>
                <a:ea typeface="Georgia" pitchFamily="34" charset="-122"/>
                <a:cs typeface="Georgia" pitchFamily="34" charset="-120"/>
              </a:rPr>
              <a:t>3.626</a:t>
            </a:r>
            <a:endParaRPr lang="en-US" sz="3200" dirty="0"/>
          </a:p>
        </p:txBody>
      </p:sp>
      <p:sp>
        <p:nvSpPr>
          <p:cNvPr id="8" name="Text 5"/>
          <p:cNvSpPr/>
          <p:nvPr/>
        </p:nvSpPr>
        <p:spPr>
          <a:xfrm>
            <a:off x="5989320" y="1800056"/>
            <a:ext cx="2743200" cy="57421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Bot Avg = turns to solve</a:t>
            </a:r>
            <a:endParaRPr lang="en-US" sz="1100" dirty="0"/>
          </a:p>
        </p:txBody>
      </p:sp>
      <p:sp>
        <p:nvSpPr>
          <p:cNvPr id="9" name="Shape 6"/>
          <p:cNvSpPr/>
          <p:nvPr/>
        </p:nvSpPr>
        <p:spPr>
          <a:xfrm>
            <a:off x="5852160" y="2912067"/>
            <a:ext cx="3017520" cy="1783080"/>
          </a:xfrm>
          <a:prstGeom prst="rect">
            <a:avLst/>
          </a:prstGeom>
          <a:solidFill>
            <a:srgbClr val="1B2A4A"/>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dirty="0"/>
          </a:p>
        </p:txBody>
      </p:sp>
      <p:sp>
        <p:nvSpPr>
          <p:cNvPr id="10" name="Text 7"/>
          <p:cNvSpPr/>
          <p:nvPr/>
        </p:nvSpPr>
        <p:spPr>
          <a:xfrm>
            <a:off x="5989320" y="3166702"/>
            <a:ext cx="2743200" cy="876429"/>
          </a:xfrm>
          <a:prstGeom prst="rect">
            <a:avLst/>
          </a:prstGeom>
          <a:noFill/>
          <a:ln/>
        </p:spPr>
        <p:txBody>
          <a:bodyPr wrap="square" lIns="0" tIns="0" rIns="0" bIns="0" rtlCol="0" anchor="ctr"/>
          <a:lstStyle/>
          <a:p>
            <a:pPr marL="0" indent="0" algn="ctr">
              <a:buNone/>
            </a:pPr>
            <a:r>
              <a:rPr lang="en-US" sz="3200" b="1" dirty="0">
                <a:solidFill>
                  <a:srgbClr val="5EEAD4"/>
                </a:solidFill>
                <a:latin typeface="Georgia" pitchFamily="34" charset="0"/>
                <a:ea typeface="Georgia" pitchFamily="34" charset="-122"/>
                <a:cs typeface="Georgia" pitchFamily="34" charset="-120"/>
              </a:rPr>
              <a:t>100%</a:t>
            </a:r>
            <a:endParaRPr lang="en-US" sz="3200" dirty="0"/>
          </a:p>
        </p:txBody>
      </p:sp>
      <p:sp>
        <p:nvSpPr>
          <p:cNvPr id="11" name="Text 8"/>
          <p:cNvSpPr/>
          <p:nvPr/>
        </p:nvSpPr>
        <p:spPr>
          <a:xfrm>
            <a:off x="5989320" y="3715343"/>
            <a:ext cx="2743200" cy="57421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Solve Rate across all words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6"/>
        </a:solidFill>
        <a:effectLst/>
      </p:bgPr>
    </p:bg>
    <p:spTree>
      <p:nvGrpSpPr>
        <p:cNvPr id="1" name=""/>
        <p:cNvGrpSpPr/>
        <p:nvPr/>
      </p:nvGrpSpPr>
      <p:grpSpPr>
        <a:xfrm>
          <a:off x="0" y="0"/>
          <a:ext cx="0" cy="0"/>
          <a:chOff x="0" y="0"/>
          <a:chExt cx="0" cy="0"/>
        </a:xfrm>
      </p:grpSpPr>
      <p:sp>
        <p:nvSpPr>
          <p:cNvPr id="12" name="Shape 9"/>
          <p:cNvSpPr/>
          <p:nvPr/>
        </p:nvSpPr>
        <p:spPr>
          <a:xfrm>
            <a:off x="6126480" y="3794760"/>
            <a:ext cx="2697480" cy="11155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a:p>
        </p:txBody>
      </p:sp>
      <p:sp>
        <p:nvSpPr>
          <p:cNvPr id="2" name="Shape 0"/>
          <p:cNvSpPr/>
          <p:nvPr/>
        </p:nvSpPr>
        <p:spPr>
          <a:xfrm>
            <a:off x="0" y="0"/>
            <a:ext cx="9144000" cy="713232"/>
          </a:xfrm>
          <a:prstGeom prst="rect">
            <a:avLst/>
          </a:prstGeom>
          <a:solidFill>
            <a:srgbClr val="1B2A4A"/>
          </a:solidFill>
          <a:ln w="12700">
            <a:solidFill>
              <a:srgbClr val="1B2A4A"/>
            </a:solidFill>
            <a:prstDash val="solid"/>
          </a:ln>
        </p:spPr>
        <p:txBody>
          <a:bodyPr/>
          <a:lstStyle/>
          <a:p>
            <a:endParaRPr lang="en-US"/>
          </a:p>
        </p:txBody>
      </p:sp>
      <p:sp>
        <p:nvSpPr>
          <p:cNvPr id="3" name="Shape 1"/>
          <p:cNvSpPr/>
          <p:nvPr/>
        </p:nvSpPr>
        <p:spPr>
          <a:xfrm>
            <a:off x="0" y="713232"/>
            <a:ext cx="9144000" cy="50292"/>
          </a:xfrm>
          <a:prstGeom prst="rect">
            <a:avLst/>
          </a:prstGeom>
          <a:solidFill>
            <a:srgbClr val="0D9488"/>
          </a:solidFill>
          <a:ln w="12700">
            <a:solidFill>
              <a:srgbClr val="0D9488"/>
            </a:solidFill>
            <a:prstDash val="solid"/>
          </a:ln>
        </p:spPr>
        <p:txBody>
          <a:bodyPr/>
          <a:lstStyle/>
          <a:p>
            <a:endParaRPr lang="en-US"/>
          </a:p>
        </p:txBody>
      </p:sp>
      <p:sp>
        <p:nvSpPr>
          <p:cNvPr id="4" name="Text 2"/>
          <p:cNvSpPr/>
          <p:nvPr/>
        </p:nvSpPr>
        <p:spPr>
          <a:xfrm>
            <a:off x="365760" y="0"/>
            <a:ext cx="8412480" cy="713232"/>
          </a:xfrm>
          <a:prstGeom prst="rect">
            <a:avLst/>
          </a:prstGeom>
          <a:noFill/>
          <a:ln/>
        </p:spPr>
        <p:txBody>
          <a:bodyPr wrap="square" lIns="0" tIns="0" rIns="0" bIns="0"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Performance Comparison</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906819217"/>
              </p:ext>
            </p:extLst>
          </p:nvPr>
        </p:nvGraphicFramePr>
        <p:xfrm>
          <a:off x="365760" y="1005839"/>
          <a:ext cx="8412480" cy="2519136"/>
        </p:xfrm>
        <a:graphic>
          <a:graphicData uri="http://schemas.openxmlformats.org/drawingml/2006/table">
            <a:tbl>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629784">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ctr">
                        <a:buNone/>
                      </a:pPr>
                      <a:r>
                        <a:rPr lang="en-US" sz="1300" b="1" dirty="0">
                          <a:solidFill>
                            <a:srgbClr val="FFFFFF"/>
                          </a:solidFill>
                          <a:latin typeface="Calibri" pitchFamily="34" charset="0"/>
                          <a:ea typeface="Calibri" charset="0"/>
                          <a:cs typeface="Calibri" pitchFamily="34" charset="-120"/>
                        </a:rPr>
                        <a:t>Solved Bot</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0D9488"/>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Our Bot</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Average Human</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629784">
                <a:tc>
                  <a:txBody>
                    <a:bodyPr/>
                    <a:lstStyle/>
                    <a:p>
                      <a:pPr marL="0" indent="0" algn="ctr">
                        <a:buNone/>
                      </a:pPr>
                      <a:r>
                        <a:rPr lang="en-US" sz="1300" b="1" dirty="0">
                          <a:solidFill>
                            <a:srgbClr val="1B2A4A"/>
                          </a:solidFill>
                          <a:latin typeface="Calibri" pitchFamily="34" charset="0"/>
                          <a:ea typeface="Calibri" pitchFamily="34" charset="-122"/>
                          <a:cs typeface="Calibri" pitchFamily="34" charset="-120"/>
                        </a:rPr>
                        <a:t>Mean Turns</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b="1" dirty="0">
                          <a:solidFill>
                            <a:schemeClr val="accent6"/>
                          </a:solidFill>
                          <a:latin typeface="Calibri" pitchFamily="34" charset="0"/>
                          <a:ea typeface="Calibri" pitchFamily="34" charset="-122"/>
                          <a:cs typeface="Calibri" pitchFamily="34" charset="-120"/>
                        </a:rPr>
                        <a:t>3.421</a:t>
                      </a:r>
                      <a:endParaRPr lang="en-US" sz="1300" dirty="0">
                        <a:solidFill>
                          <a:schemeClr val="accent6"/>
                        </a:solidFill>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334155"/>
                          </a:solidFill>
                          <a:latin typeface="Calibri" pitchFamily="34" charset="0"/>
                          <a:ea typeface="Calibri" pitchFamily="34" charset="-122"/>
                          <a:cs typeface="Calibri" pitchFamily="34" charset="-120"/>
                        </a:rPr>
                        <a:t>3.626</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334155"/>
                          </a:solidFill>
                          <a:latin typeface="Calibri" pitchFamily="34" charset="0"/>
                          <a:ea typeface="Calibri" pitchFamily="34" charset="-122"/>
                          <a:cs typeface="Calibri" pitchFamily="34" charset="-120"/>
                        </a:rPr>
                        <a:t>3.813</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629784">
                <a:tc>
                  <a:txBody>
                    <a:bodyPr/>
                    <a:lstStyle/>
                    <a:p>
                      <a:pPr marL="0" indent="0" algn="ctr">
                        <a:buNone/>
                      </a:pPr>
                      <a:r>
                        <a:rPr lang="en-US" sz="1300" b="1" dirty="0">
                          <a:solidFill>
                            <a:srgbClr val="1B2A4A"/>
                          </a:solidFill>
                          <a:latin typeface="Calibri" pitchFamily="34" charset="0"/>
                          <a:ea typeface="Calibri" pitchFamily="34" charset="-122"/>
                          <a:cs typeface="Calibri" pitchFamily="34" charset="-120"/>
                        </a:rPr>
                        <a:t>Std Dev</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0E9E91"/>
                          </a:solidFill>
                          <a:latin typeface="Calibri" pitchFamily="34" charset="0"/>
                          <a:ea typeface="Calibri" pitchFamily="34" charset="-122"/>
                          <a:cs typeface="Calibri" pitchFamily="34" charset="-120"/>
                        </a:rPr>
                        <a:t>0.622</a:t>
                      </a:r>
                      <a:endParaRPr lang="en-US" sz="1300" dirty="0">
                        <a:solidFill>
                          <a:srgbClr val="0E9E91"/>
                        </a:solidFill>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334155"/>
                          </a:solidFill>
                          <a:latin typeface="Calibri" pitchFamily="34" charset="0"/>
                          <a:ea typeface="Calibri" pitchFamily="34" charset="-122"/>
                          <a:cs typeface="Calibri" pitchFamily="34" charset="-120"/>
                        </a:rPr>
                        <a:t>0.8054</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334155"/>
                          </a:solidFill>
                          <a:latin typeface="Calibri" pitchFamily="34" charset="0"/>
                          <a:ea typeface="Calibri" pitchFamily="34" charset="-122"/>
                          <a:cs typeface="Calibri" pitchFamily="34" charset="-120"/>
                        </a:rPr>
                        <a:t>1.143</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2"/>
                  </a:ext>
                </a:extLst>
              </a:tr>
              <a:tr h="629784">
                <a:tc>
                  <a:txBody>
                    <a:bodyPr/>
                    <a:lstStyle/>
                    <a:p>
                      <a:pPr marL="0" indent="0" algn="ctr">
                        <a:buNone/>
                      </a:pPr>
                      <a:r>
                        <a:rPr lang="en-US" sz="1300" b="1" dirty="0">
                          <a:solidFill>
                            <a:srgbClr val="1B2A4A"/>
                          </a:solidFill>
                          <a:latin typeface="Calibri" pitchFamily="34" charset="0"/>
                          <a:ea typeface="Calibri" pitchFamily="34" charset="-122"/>
                          <a:cs typeface="Calibri" pitchFamily="34" charset="-120"/>
                        </a:rPr>
                        <a:t>Failure Rate</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b="1" dirty="0">
                          <a:solidFill>
                            <a:srgbClr val="0E9E91"/>
                          </a:solidFill>
                          <a:latin typeface="Calibri" pitchFamily="34" charset="0"/>
                          <a:ea typeface="Calibri" pitchFamily="34" charset="-122"/>
                          <a:cs typeface="Calibri" pitchFamily="34" charset="-120"/>
                        </a:rPr>
                        <a:t>0%</a:t>
                      </a:r>
                      <a:endParaRPr lang="en-US" sz="1300" dirty="0">
                        <a:solidFill>
                          <a:srgbClr val="0E9E91"/>
                        </a:solidFill>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334155"/>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tc>
                  <a:txBody>
                    <a:bodyPr/>
                    <a:lstStyle/>
                    <a:p>
                      <a:pPr marL="0" indent="0" algn="ctr">
                        <a:buNone/>
                      </a:pPr>
                      <a:r>
                        <a:rPr lang="en-US" sz="1300" dirty="0">
                          <a:solidFill>
                            <a:srgbClr val="334155"/>
                          </a:solidFill>
                          <a:latin typeface="Calibri" pitchFamily="34" charset="0"/>
                          <a:ea typeface="Calibri" pitchFamily="34" charset="-122"/>
                          <a:cs typeface="Calibri" pitchFamily="34" charset="-120"/>
                        </a:rPr>
                        <a:t>1.5%</a:t>
                      </a:r>
                      <a:endParaRPr lang="en-US" sz="1300" dirty="0">
                        <a:latin typeface="Calibri" charset="0"/>
                        <a:ea typeface="Calibri" charset="0"/>
                        <a:cs typeface="Calibri" charset="0"/>
                      </a:endParaRPr>
                    </a:p>
                  </a:txBody>
                  <a:tcPr anchor="ctr">
                    <a:lnL w="12700" cap="flat" cmpd="sng" algn="ctr">
                      <a:solidFill>
                        <a:srgbClr val="E2E8F0"/>
                      </a:solidFill>
                      <a:prstDash val="solid"/>
                      <a:round/>
                      <a:headEnd type="none" w="med" len="med"/>
                      <a:tailEnd type="none" w="med" len="med"/>
                    </a:lnL>
                    <a:lnR w="12700" cap="flat" cmpd="sng" algn="ctr">
                      <a:solidFill>
                        <a:srgbClr val="E2E8F0"/>
                      </a:solidFill>
                      <a:prstDash val="solid"/>
                      <a:round/>
                      <a:headEnd type="none" w="med" len="med"/>
                      <a:tailEnd type="none" w="med" len="med"/>
                    </a:lnR>
                    <a:lnT w="12700" cap="flat" cmpd="sng" algn="ctr">
                      <a:solidFill>
                        <a:srgbClr val="E2E8F0"/>
                      </a:solidFill>
                      <a:prstDash val="solid"/>
                      <a:round/>
                      <a:headEnd type="none" w="med" len="med"/>
                      <a:tailEnd type="none" w="med" len="med"/>
                    </a:lnT>
                    <a:lnB w="1270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6" name="Shape 3"/>
          <p:cNvSpPr/>
          <p:nvPr/>
        </p:nvSpPr>
        <p:spPr>
          <a:xfrm>
            <a:off x="365760" y="3794760"/>
            <a:ext cx="2697480" cy="11155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dirty="0"/>
          </a:p>
        </p:txBody>
      </p:sp>
      <p:sp>
        <p:nvSpPr>
          <p:cNvPr id="5" name="Text 4"/>
          <p:cNvSpPr/>
          <p:nvPr/>
        </p:nvSpPr>
        <p:spPr>
          <a:xfrm>
            <a:off x="457200" y="3886200"/>
            <a:ext cx="45720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8" name="Text 5"/>
          <p:cNvSpPr/>
          <p:nvPr/>
        </p:nvSpPr>
        <p:spPr>
          <a:xfrm>
            <a:off x="457200" y="4343400"/>
            <a:ext cx="2514600" cy="53035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The Solved Bot is the Optimal Method to play Wordle found by Alex Selby in 2022, so it was used a benchmark.</a:t>
            </a:r>
            <a:endParaRPr lang="en-US" sz="1000" dirty="0"/>
          </a:p>
        </p:txBody>
      </p:sp>
      <p:sp>
        <p:nvSpPr>
          <p:cNvPr id="9" name="Shape 6"/>
          <p:cNvSpPr/>
          <p:nvPr/>
        </p:nvSpPr>
        <p:spPr>
          <a:xfrm>
            <a:off x="3246120" y="3794760"/>
            <a:ext cx="2697480" cy="1115568"/>
          </a:xfrm>
          <a:prstGeom prst="rect">
            <a:avLst/>
          </a:prstGeom>
          <a:solidFill>
            <a:srgbClr val="FFFFFF"/>
          </a:solidFill>
          <a:ln w="12700">
            <a:solidFill>
              <a:srgbClr val="E2E8F0"/>
            </a:solidFill>
            <a:prstDash val="solid"/>
          </a:ln>
          <a:effectLst>
            <a:outerShdw blurRad="101600" dist="38100" dir="8100000" algn="bl" rotWithShape="0">
              <a:srgbClr val="000000">
                <a:alpha val="12000"/>
              </a:srgbClr>
            </a:outerShdw>
          </a:effectLst>
        </p:spPr>
        <p:txBody>
          <a:bodyPr/>
          <a:lstStyle/>
          <a:p>
            <a:endParaRPr lang="en-US" dirty="0"/>
          </a:p>
        </p:txBody>
      </p:sp>
      <p:sp>
        <p:nvSpPr>
          <p:cNvPr id="10" name="Text 7"/>
          <p:cNvSpPr/>
          <p:nvPr/>
        </p:nvSpPr>
        <p:spPr>
          <a:xfrm>
            <a:off x="3337560" y="3886200"/>
            <a:ext cx="45720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1" name="Text 8"/>
          <p:cNvSpPr/>
          <p:nvPr/>
        </p:nvSpPr>
        <p:spPr>
          <a:xfrm>
            <a:off x="6217920" y="4343400"/>
            <a:ext cx="2514600" cy="530352"/>
          </a:xfrm>
          <a:prstGeom prst="rect">
            <a:avLst/>
          </a:prstGeom>
          <a:noFill/>
          <a:ln/>
        </p:spPr>
        <p:txBody>
          <a:bodyPr wrap="square" rtlCol="0" anchor="ctr"/>
          <a:lstStyle/>
          <a:p>
            <a:r>
              <a:rPr lang="en-US" sz="1000" dirty="0"/>
              <a:t>The Our Bot uses 6% more turns than the optimal bot but uses 4.9% less than a human player.</a:t>
            </a:r>
          </a:p>
        </p:txBody>
      </p:sp>
      <p:sp>
        <p:nvSpPr>
          <p:cNvPr id="13" name="Text 10"/>
          <p:cNvSpPr/>
          <p:nvPr/>
        </p:nvSpPr>
        <p:spPr>
          <a:xfrm>
            <a:off x="6217920" y="3886200"/>
            <a:ext cx="457200" cy="457200"/>
          </a:xfrm>
          <a:prstGeom prst="rect">
            <a:avLst/>
          </a:prstGeom>
          <a:noFill/>
          <a:ln/>
        </p:spPr>
        <p:txBody>
          <a:bodyPr wrap="square" lIns="0" tIns="0" rIns="0" bIns="0" rtlCol="0" anchor="ctr"/>
          <a:lstStyle/>
          <a:p>
            <a:pPr marL="0" indent="0" algn="ctr">
              <a:buNone/>
            </a:pPr>
            <a:r>
              <a:rPr lang="en-US" sz="2200" dirty="0">
                <a:solidFill>
                  <a:srgbClr val="000000"/>
                </a:solidFill>
              </a:rPr>
              <a:t>📐</a:t>
            </a:r>
            <a:endParaRPr lang="en-US" sz="2200" dirty="0"/>
          </a:p>
        </p:txBody>
      </p:sp>
      <p:sp>
        <p:nvSpPr>
          <p:cNvPr id="14" name="Text 11"/>
          <p:cNvSpPr/>
          <p:nvPr/>
        </p:nvSpPr>
        <p:spPr>
          <a:xfrm>
            <a:off x="3337560" y="4343400"/>
            <a:ext cx="2514600" cy="530352"/>
          </a:xfrm>
          <a:prstGeom prst="rect">
            <a:avLst/>
          </a:prstGeom>
          <a:noFill/>
          <a:ln/>
        </p:spPr>
        <p:txBody>
          <a:bodyPr wrap="square" rtlCol="0" anchor="ctr"/>
          <a:lstStyle/>
          <a:p>
            <a:pPr marL="0" indent="0">
              <a:buNone/>
            </a:pPr>
            <a:r>
              <a:rPr lang="en-US" sz="1000" dirty="0">
                <a:solidFill>
                  <a:srgbClr val="334155"/>
                </a:solidFill>
                <a:latin typeface="Calibri" pitchFamily="34" charset="0"/>
                <a:ea typeface="Calibri" pitchFamily="34" charset="-122"/>
                <a:cs typeface="Calibri" pitchFamily="34" charset="-120"/>
              </a:rPr>
              <a:t>Our Bot’s consistency (Std Dev) lies right between human and optimal, which may come from its greedy nature.</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A4A"/>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D9488"/>
          </a:solidFill>
          <a:ln w="12700">
            <a:solidFill>
              <a:srgbClr val="0D9488"/>
            </a:solidFill>
            <a:prstDash val="solid"/>
          </a:ln>
        </p:spPr>
        <p:txBody>
          <a:bodyPr/>
          <a:lstStyle/>
          <a:p>
            <a:endParaRPr lang="en-US"/>
          </a:p>
        </p:txBody>
      </p:sp>
      <p:sp>
        <p:nvSpPr>
          <p:cNvPr id="3" name="Text 1"/>
          <p:cNvSpPr/>
          <p:nvPr/>
        </p:nvSpPr>
        <p:spPr>
          <a:xfrm>
            <a:off x="457200" y="320040"/>
            <a:ext cx="8229600" cy="594360"/>
          </a:xfrm>
          <a:prstGeom prst="rect">
            <a:avLst/>
          </a:prstGeom>
          <a:noFill/>
          <a:ln/>
        </p:spPr>
        <p:txBody>
          <a:bodyPr wrap="square" rtlCol="0" anchor="ctr"/>
          <a:lstStyle/>
          <a:p>
            <a:pPr marL="0" indent="0">
              <a:buNone/>
            </a:pPr>
            <a:r>
              <a:rPr lang="en-US" sz="3400" b="1" dirty="0">
                <a:solidFill>
                  <a:srgbClr val="FFFFFF"/>
                </a:solidFill>
                <a:latin typeface="Georgia" pitchFamily="34" charset="0"/>
                <a:ea typeface="Georgia" pitchFamily="34" charset="-122"/>
                <a:cs typeface="Georgia" pitchFamily="34" charset="-120"/>
              </a:rPr>
              <a:t>Conclusion</a:t>
            </a:r>
            <a:endParaRPr lang="en-US" sz="3400" dirty="0"/>
          </a:p>
        </p:txBody>
      </p:sp>
      <p:sp>
        <p:nvSpPr>
          <p:cNvPr id="4" name="Shape 2"/>
          <p:cNvSpPr/>
          <p:nvPr/>
        </p:nvSpPr>
        <p:spPr>
          <a:xfrm>
            <a:off x="457200" y="960120"/>
            <a:ext cx="8229600" cy="45720"/>
          </a:xfrm>
          <a:prstGeom prst="rect">
            <a:avLst/>
          </a:prstGeom>
          <a:solidFill>
            <a:srgbClr val="0D9488"/>
          </a:solidFill>
          <a:ln w="12700">
            <a:solidFill>
              <a:srgbClr val="0D9488"/>
            </a:solidFill>
            <a:prstDash val="solid"/>
          </a:ln>
        </p:spPr>
        <p:txBody>
          <a:bodyPr/>
          <a:lstStyle/>
          <a:p>
            <a:endParaRPr lang="en-US"/>
          </a:p>
        </p:txBody>
      </p:sp>
      <p:sp>
        <p:nvSpPr>
          <p:cNvPr id="5" name="Shape 3"/>
          <p:cNvSpPr/>
          <p:nvPr/>
        </p:nvSpPr>
        <p:spPr>
          <a:xfrm>
            <a:off x="457200" y="1143000"/>
            <a:ext cx="4114800" cy="1508760"/>
          </a:xfrm>
          <a:prstGeom prst="rect">
            <a:avLst/>
          </a:prstGeom>
          <a:solidFill>
            <a:srgbClr val="243B55"/>
          </a:solidFill>
          <a:ln w="12700">
            <a:solidFill>
              <a:srgbClr val="2E4A6A"/>
            </a:solidFill>
            <a:prstDash val="solid"/>
          </a:ln>
        </p:spPr>
        <p:txBody>
          <a:bodyPr/>
          <a:lstStyle/>
          <a:p>
            <a:endParaRPr lang="en-US"/>
          </a:p>
        </p:txBody>
      </p:sp>
      <p:sp>
        <p:nvSpPr>
          <p:cNvPr id="6" name="Text 4"/>
          <p:cNvSpPr/>
          <p:nvPr/>
        </p:nvSpPr>
        <p:spPr>
          <a:xfrm>
            <a:off x="594360" y="1234440"/>
            <a:ext cx="3840480" cy="384048"/>
          </a:xfrm>
          <a:prstGeom prst="rect">
            <a:avLst/>
          </a:prstGeom>
          <a:noFill/>
          <a:ln/>
        </p:spPr>
        <p:txBody>
          <a:bodyPr wrap="square" rtlCol="0" anchor="ctr"/>
          <a:lstStyle/>
          <a:p>
            <a:pPr marL="0" indent="0">
              <a:buNone/>
            </a:pPr>
            <a:r>
              <a:rPr lang="en-US" sz="1350" b="1" dirty="0">
                <a:solidFill>
                  <a:srgbClr val="5EEAD4"/>
                </a:solidFill>
                <a:latin typeface="Georgia" pitchFamily="34" charset="0"/>
                <a:ea typeface="Georgia" pitchFamily="34" charset="-122"/>
                <a:cs typeface="Georgia" pitchFamily="34" charset="-120"/>
              </a:rPr>
              <a:t>✅  Problem Solved</a:t>
            </a:r>
            <a:endParaRPr lang="en-US" sz="1350" dirty="0"/>
          </a:p>
        </p:txBody>
      </p:sp>
      <p:sp>
        <p:nvSpPr>
          <p:cNvPr id="7" name="Text 5"/>
          <p:cNvSpPr/>
          <p:nvPr/>
        </p:nvSpPr>
        <p:spPr>
          <a:xfrm>
            <a:off x="594360" y="1645920"/>
            <a:ext cx="3840480" cy="914400"/>
          </a:xfrm>
          <a:prstGeom prst="rect">
            <a:avLst/>
          </a:prstGeom>
          <a:noFill/>
          <a:ln/>
        </p:spPr>
        <p:txBody>
          <a:bodyPr wrap="square" rtlCol="0" anchor="ctr"/>
          <a:lstStyle/>
          <a:p>
            <a:pPr marL="0" indent="0">
              <a:buNone/>
            </a:pPr>
            <a:r>
              <a:rPr lang="en-US" sz="1100" dirty="0">
                <a:solidFill>
                  <a:srgbClr val="CBD5E1"/>
                </a:solidFill>
                <a:latin typeface="Calibri" pitchFamily="34" charset="0"/>
                <a:ea typeface="Calibri" pitchFamily="34" charset="-122"/>
                <a:cs typeface="Calibri" pitchFamily="34" charset="-120"/>
              </a:rPr>
              <a:t>Our hill-climbing solver solves the full word list with a 100% success rate with an average 3.626 turns needed to solve.</a:t>
            </a:r>
            <a:endParaRPr lang="en-US" sz="1100" dirty="0"/>
          </a:p>
        </p:txBody>
      </p:sp>
      <p:sp>
        <p:nvSpPr>
          <p:cNvPr id="8" name="Shape 6"/>
          <p:cNvSpPr/>
          <p:nvPr/>
        </p:nvSpPr>
        <p:spPr>
          <a:xfrm>
            <a:off x="4892040" y="1143000"/>
            <a:ext cx="4114800" cy="1508760"/>
          </a:xfrm>
          <a:prstGeom prst="rect">
            <a:avLst/>
          </a:prstGeom>
          <a:solidFill>
            <a:srgbClr val="243B55"/>
          </a:solidFill>
          <a:ln w="12700">
            <a:solidFill>
              <a:srgbClr val="2E4A6A"/>
            </a:solidFill>
            <a:prstDash val="solid"/>
          </a:ln>
        </p:spPr>
        <p:txBody>
          <a:bodyPr/>
          <a:lstStyle/>
          <a:p>
            <a:endParaRPr lang="en-US"/>
          </a:p>
        </p:txBody>
      </p:sp>
      <p:sp>
        <p:nvSpPr>
          <p:cNvPr id="9" name="Text 7"/>
          <p:cNvSpPr/>
          <p:nvPr/>
        </p:nvSpPr>
        <p:spPr>
          <a:xfrm>
            <a:off x="5029200" y="1234440"/>
            <a:ext cx="3840480" cy="384048"/>
          </a:xfrm>
          <a:prstGeom prst="rect">
            <a:avLst/>
          </a:prstGeom>
          <a:noFill/>
          <a:ln/>
        </p:spPr>
        <p:txBody>
          <a:bodyPr wrap="square" rtlCol="0" anchor="ctr"/>
          <a:lstStyle/>
          <a:p>
            <a:pPr marL="0" indent="0">
              <a:buNone/>
            </a:pPr>
            <a:r>
              <a:rPr lang="en-US" sz="1350" b="1" dirty="0">
                <a:solidFill>
                  <a:srgbClr val="5EEAD4"/>
                </a:solidFill>
                <a:latin typeface="Georgia" pitchFamily="34" charset="0"/>
                <a:ea typeface="Georgia" pitchFamily="34" charset="-122"/>
                <a:cs typeface="Georgia" pitchFamily="34" charset="-120"/>
              </a:rPr>
              <a:t>⚡  Algorithm Efficiency</a:t>
            </a:r>
            <a:endParaRPr lang="en-US" sz="1350" dirty="0"/>
          </a:p>
        </p:txBody>
      </p:sp>
      <p:sp>
        <p:nvSpPr>
          <p:cNvPr id="10" name="Text 8"/>
          <p:cNvSpPr/>
          <p:nvPr/>
        </p:nvSpPr>
        <p:spPr>
          <a:xfrm>
            <a:off x="5029200" y="1645920"/>
            <a:ext cx="3840480" cy="914400"/>
          </a:xfrm>
          <a:prstGeom prst="rect">
            <a:avLst/>
          </a:prstGeom>
          <a:noFill/>
          <a:ln/>
        </p:spPr>
        <p:txBody>
          <a:bodyPr wrap="square" rtlCol="0" anchor="ctr"/>
          <a:lstStyle/>
          <a:p>
            <a:r>
              <a:rPr lang="en-US" sz="1100" dirty="0">
                <a:solidFill>
                  <a:srgbClr val="CBD5E1"/>
                </a:solidFill>
                <a:latin typeface="Calibri" pitchFamily="34" charset="0"/>
                <a:ea typeface="Calibri" pitchFamily="34" charset="-122"/>
                <a:cs typeface="Calibri" pitchFamily="34" charset="-120"/>
              </a:rPr>
              <a:t>The pruning process that comes from CSP is essential to the function of this AI, ensuring that each subsequent climb focuses only on valid candidates, and decreasing computing time with each turn.</a:t>
            </a:r>
            <a:endParaRPr lang="en-US" sz="1100" dirty="0"/>
          </a:p>
        </p:txBody>
      </p:sp>
      <p:sp>
        <p:nvSpPr>
          <p:cNvPr id="11" name="Shape 9"/>
          <p:cNvSpPr/>
          <p:nvPr/>
        </p:nvSpPr>
        <p:spPr>
          <a:xfrm>
            <a:off x="457200" y="2834640"/>
            <a:ext cx="4114800" cy="1508760"/>
          </a:xfrm>
          <a:prstGeom prst="rect">
            <a:avLst/>
          </a:prstGeom>
          <a:solidFill>
            <a:srgbClr val="243B55"/>
          </a:solidFill>
          <a:ln w="12700">
            <a:solidFill>
              <a:srgbClr val="2E4A6A"/>
            </a:solidFill>
            <a:prstDash val="solid"/>
          </a:ln>
        </p:spPr>
        <p:txBody>
          <a:bodyPr/>
          <a:lstStyle/>
          <a:p>
            <a:endParaRPr lang="en-US"/>
          </a:p>
        </p:txBody>
      </p:sp>
      <p:sp>
        <p:nvSpPr>
          <p:cNvPr id="12" name="Text 10"/>
          <p:cNvSpPr/>
          <p:nvPr/>
        </p:nvSpPr>
        <p:spPr>
          <a:xfrm>
            <a:off x="594360" y="2926080"/>
            <a:ext cx="3840480" cy="384048"/>
          </a:xfrm>
          <a:prstGeom prst="rect">
            <a:avLst/>
          </a:prstGeom>
          <a:noFill/>
          <a:ln/>
        </p:spPr>
        <p:txBody>
          <a:bodyPr wrap="square" rtlCol="0" anchor="ctr"/>
          <a:lstStyle/>
          <a:p>
            <a:pPr marL="0" indent="0">
              <a:buNone/>
            </a:pPr>
            <a:r>
              <a:rPr lang="en-US" sz="1350" b="1" dirty="0">
                <a:solidFill>
                  <a:srgbClr val="5EEAD4"/>
                </a:solidFill>
                <a:latin typeface="Georgia" pitchFamily="34" charset="0"/>
                <a:ea typeface="Georgia" pitchFamily="34" charset="-122"/>
                <a:cs typeface="Georgia" pitchFamily="34" charset="-120"/>
              </a:rPr>
              <a:t>📊  Outperforms Humans</a:t>
            </a:r>
            <a:endParaRPr lang="en-US" sz="1350" dirty="0"/>
          </a:p>
        </p:txBody>
      </p:sp>
      <p:sp>
        <p:nvSpPr>
          <p:cNvPr id="13" name="Text 11"/>
          <p:cNvSpPr/>
          <p:nvPr/>
        </p:nvSpPr>
        <p:spPr>
          <a:xfrm>
            <a:off x="594360" y="3337560"/>
            <a:ext cx="3840480" cy="914400"/>
          </a:xfrm>
          <a:prstGeom prst="rect">
            <a:avLst/>
          </a:prstGeom>
          <a:noFill/>
          <a:ln/>
        </p:spPr>
        <p:txBody>
          <a:bodyPr wrap="square" rtlCol="0" anchor="ctr"/>
          <a:lstStyle/>
          <a:p>
            <a:pPr marL="0" indent="0">
              <a:buNone/>
            </a:pPr>
            <a:r>
              <a:rPr lang="en-US" sz="1100" dirty="0">
                <a:solidFill>
                  <a:srgbClr val="CBD5E1"/>
                </a:solidFill>
                <a:latin typeface="Calibri" pitchFamily="34" charset="0"/>
                <a:ea typeface="Calibri" pitchFamily="34" charset="-122"/>
                <a:cs typeface="Calibri" pitchFamily="34" charset="-120"/>
              </a:rPr>
              <a:t>The Bot takes 11.8% less turns than a human (Hamza), and is more consistent beating the Wordle, both in terms of failure rate &amp; Std Dev</a:t>
            </a:r>
            <a:endParaRPr lang="en-US" sz="1100" dirty="0"/>
          </a:p>
        </p:txBody>
      </p:sp>
      <p:sp>
        <p:nvSpPr>
          <p:cNvPr id="17" name="Shape 15"/>
          <p:cNvSpPr/>
          <p:nvPr/>
        </p:nvSpPr>
        <p:spPr>
          <a:xfrm>
            <a:off x="0" y="4754880"/>
            <a:ext cx="9144000" cy="388620"/>
          </a:xfrm>
          <a:prstGeom prst="rect">
            <a:avLst/>
          </a:prstGeom>
          <a:solidFill>
            <a:srgbClr val="0D9488"/>
          </a:solidFill>
          <a:ln w="12700">
            <a:solidFill>
              <a:srgbClr val="0D9488"/>
            </a:solidFill>
            <a:prstDash val="solid"/>
          </a:ln>
        </p:spPr>
        <p:txBody>
          <a:bodyPr/>
          <a:lstStyle/>
          <a:p>
            <a:endParaRPr lang="en-US"/>
          </a:p>
        </p:txBody>
      </p:sp>
      <p:sp>
        <p:nvSpPr>
          <p:cNvPr id="18" name="Text 16"/>
          <p:cNvSpPr/>
          <p:nvPr/>
        </p:nvSpPr>
        <p:spPr>
          <a:xfrm>
            <a:off x="274320" y="4754880"/>
            <a:ext cx="8595360" cy="388620"/>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Wordle Solver · Human vs AI</a:t>
            </a:r>
            <a:endParaRPr lang="en-US" sz="1100" dirty="0"/>
          </a:p>
        </p:txBody>
      </p:sp>
      <p:sp>
        <p:nvSpPr>
          <p:cNvPr id="19" name="Shape 9">
            <a:extLst>
              <a:ext uri="{FF2B5EF4-FFF2-40B4-BE49-F238E27FC236}">
                <a16:creationId xmlns:a16="http://schemas.microsoft.com/office/drawing/2014/main" id="{8416B408-7401-1240-35A4-684B8B7A890C}"/>
              </a:ext>
            </a:extLst>
          </p:cNvPr>
          <p:cNvSpPr/>
          <p:nvPr/>
        </p:nvSpPr>
        <p:spPr>
          <a:xfrm>
            <a:off x="4892040" y="2834640"/>
            <a:ext cx="4114800" cy="1508760"/>
          </a:xfrm>
          <a:prstGeom prst="rect">
            <a:avLst/>
          </a:prstGeom>
          <a:solidFill>
            <a:srgbClr val="0E9E91"/>
          </a:solidFill>
          <a:ln w="12700">
            <a:solidFill>
              <a:srgbClr val="2E4A6A"/>
            </a:solidFill>
            <a:prstDash val="solid"/>
          </a:ln>
        </p:spPr>
        <p:txBody>
          <a:bodyPr/>
          <a:lstStyle/>
          <a:p>
            <a:endParaRPr lang="en-US"/>
          </a:p>
        </p:txBody>
      </p:sp>
      <p:sp>
        <p:nvSpPr>
          <p:cNvPr id="21" name="TextBox 20">
            <a:extLst>
              <a:ext uri="{FF2B5EF4-FFF2-40B4-BE49-F238E27FC236}">
                <a16:creationId xmlns:a16="http://schemas.microsoft.com/office/drawing/2014/main" id="{3C5BDE87-BF94-7AA7-3A84-E1437B1880E5}"/>
              </a:ext>
            </a:extLst>
          </p:cNvPr>
          <p:cNvSpPr txBox="1"/>
          <p:nvPr/>
        </p:nvSpPr>
        <p:spPr>
          <a:xfrm>
            <a:off x="5029200" y="3185063"/>
            <a:ext cx="3840480" cy="807913"/>
          </a:xfrm>
          <a:prstGeom prst="rect">
            <a:avLst/>
          </a:prstGeom>
          <a:noFill/>
        </p:spPr>
        <p:txBody>
          <a:bodyPr wrap="square">
            <a:spAutoFit/>
          </a:bodyPr>
          <a:lstStyle/>
          <a:p>
            <a:r>
              <a:rPr lang="en-US" sz="3600" b="1" dirty="0">
                <a:solidFill>
                  <a:srgbClr val="FFFFFF"/>
                </a:solidFill>
                <a:latin typeface="Georgia" pitchFamily="34" charset="0"/>
                <a:ea typeface="Georgia" pitchFamily="34" charset="-122"/>
                <a:cs typeface="Georgia" pitchFamily="34" charset="-120"/>
              </a:rPr>
              <a:t>Thank you!</a:t>
            </a:r>
          </a:p>
          <a:p>
            <a:r>
              <a:rPr lang="en-US" sz="1050" b="1" dirty="0">
                <a:solidFill>
                  <a:srgbClr val="FFFFFF"/>
                </a:solidFill>
                <a:latin typeface="Georgia" pitchFamily="34" charset="0"/>
                <a:ea typeface="Georgia" pitchFamily="34" charset="-122"/>
                <a:cs typeface="Georgia" pitchFamily="34" charset="-120"/>
              </a:rPr>
              <a:t>Any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TotalTime>
  <Words>642</Words>
  <Application>Microsoft Office PowerPoint</Application>
  <PresentationFormat>On-screen Show (16:9)</PresentationFormat>
  <Paragraphs>133</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Wordle: Human vs Greedy Hill Climbing</dc:title>
  <dc:subject>PptxGenJS Presentation</dc:subject>
  <dc:creator>PptxGenJS</dc:creator>
  <cp:lastModifiedBy>Mahmoud Najm</cp:lastModifiedBy>
  <cp:revision>5</cp:revision>
  <dcterms:created xsi:type="dcterms:W3CDTF">2026-04-07T08:52:22Z</dcterms:created>
  <dcterms:modified xsi:type="dcterms:W3CDTF">2026-04-08T19:27:31Z</dcterms:modified>
</cp:coreProperties>
</file>